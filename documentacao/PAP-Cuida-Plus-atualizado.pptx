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pt-P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56D45-8F02-48F8-8F00-BC0249A5218C}" v="6" dt="2026-10-09T14:06:46.7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77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Alexandre Paredes da Silva" userId="544e5b38-90ea-4559-bf76-249e136811bc" providerId="ADAL" clId="{B984039E-A645-4338-A4E9-3533B2B1C3CA}"/>
    <pc:docChg chg="modSld">
      <pc:chgData name="Rodrigo Alexandre Paredes da Silva" userId="544e5b38-90ea-4559-bf76-249e136811bc" providerId="ADAL" clId="{B984039E-A645-4338-A4E9-3533B2B1C3CA}" dt="2026-10-09T14:06:46.778" v="87" actId="1076"/>
      <pc:docMkLst>
        <pc:docMk/>
      </pc:docMkLst>
      <pc:sldChg chg="addSp modSp mod">
        <pc:chgData name="Rodrigo Alexandre Paredes da Silva" userId="544e5b38-90ea-4559-bf76-249e136811bc" providerId="ADAL" clId="{B984039E-A645-4338-A4E9-3533B2B1C3CA}" dt="2026-10-09T14:06:38.992" v="86" actId="20577"/>
        <pc:sldMkLst>
          <pc:docMk/>
          <pc:sldMk cId="552678614" sldId="256"/>
        </pc:sldMkLst>
        <pc:spChg chg="mod">
          <ac:chgData name="Rodrigo Alexandre Paredes da Silva" userId="544e5b38-90ea-4559-bf76-249e136811bc" providerId="ADAL" clId="{B984039E-A645-4338-A4E9-3533B2B1C3CA}" dt="2026-10-09T14:06:26.051" v="73" actId="1076"/>
          <ac:spMkLst>
            <pc:docMk/>
            <pc:sldMk cId="552678614" sldId="256"/>
            <ac:spMk id="2" creationId="{50EDA12C-1D9B-EBB9-A00C-6ECD87D049E6}"/>
          </ac:spMkLst>
        </pc:spChg>
        <pc:spChg chg="mod">
          <ac:chgData name="Rodrigo Alexandre Paredes da Silva" userId="544e5b38-90ea-4559-bf76-249e136811bc" providerId="ADAL" clId="{B984039E-A645-4338-A4E9-3533B2B1C3CA}" dt="2026-10-09T14:06:38.992" v="86" actId="20577"/>
          <ac:spMkLst>
            <pc:docMk/>
            <pc:sldMk cId="552678614" sldId="256"/>
            <ac:spMk id="12" creationId="{3436C795-B029-F8D7-4130-D107A0B318FB}"/>
          </ac:spMkLst>
        </pc:spChg>
        <pc:spChg chg="add mod">
          <ac:chgData name="Rodrigo Alexandre Paredes da Silva" userId="544e5b38-90ea-4559-bf76-249e136811bc" providerId="ADAL" clId="{B984039E-A645-4338-A4E9-3533B2B1C3CA}" dt="2026-10-09T14:05:13.382" v="15" actId="1076"/>
          <ac:spMkLst>
            <pc:docMk/>
            <pc:sldMk cId="552678614" sldId="256"/>
            <ac:spMk id="13" creationId="{6D08976D-7908-E1C3-DDD3-E4249EB4746F}"/>
          </ac:spMkLst>
        </pc:spChg>
        <pc:spChg chg="add mod">
          <ac:chgData name="Rodrigo Alexandre Paredes da Silva" userId="544e5b38-90ea-4559-bf76-249e136811bc" providerId="ADAL" clId="{B984039E-A645-4338-A4E9-3533B2B1C3CA}" dt="2026-10-09T14:05:27.831" v="21" actId="207"/>
          <ac:spMkLst>
            <pc:docMk/>
            <pc:sldMk cId="552678614" sldId="256"/>
            <ac:spMk id="14" creationId="{102CD831-DEBA-0A8A-0B2D-40EB5C17F80B}"/>
          </ac:spMkLst>
        </pc:spChg>
        <pc:spChg chg="add mod">
          <ac:chgData name="Rodrigo Alexandre Paredes da Silva" userId="544e5b38-90ea-4559-bf76-249e136811bc" providerId="ADAL" clId="{B984039E-A645-4338-A4E9-3533B2B1C3CA}" dt="2026-10-09T14:06:15.529" v="65" actId="1076"/>
          <ac:spMkLst>
            <pc:docMk/>
            <pc:sldMk cId="552678614" sldId="256"/>
            <ac:spMk id="15" creationId="{5C2E8CC2-47CF-7FE5-63F5-03449788606C}"/>
          </ac:spMkLst>
        </pc:spChg>
      </pc:sldChg>
      <pc:sldChg chg="modSp">
        <pc:chgData name="Rodrigo Alexandre Paredes da Silva" userId="544e5b38-90ea-4559-bf76-249e136811bc" providerId="ADAL" clId="{B984039E-A645-4338-A4E9-3533B2B1C3CA}" dt="2026-10-09T14:06:46.778" v="87" actId="1076"/>
        <pc:sldMkLst>
          <pc:docMk/>
          <pc:sldMk cId="3237188457" sldId="264"/>
        </pc:sldMkLst>
        <pc:spChg chg="mod">
          <ac:chgData name="Rodrigo Alexandre Paredes da Silva" userId="544e5b38-90ea-4559-bf76-249e136811bc" providerId="ADAL" clId="{B984039E-A645-4338-A4E9-3533B2B1C3CA}" dt="2026-10-09T14:06:46.778" v="87" actId="1076"/>
          <ac:spMkLst>
            <pc:docMk/>
            <pc:sldMk cId="3237188457" sldId="264"/>
            <ac:spMk id="2" creationId="{DE0332D2-E884-FB34-CA69-884C851828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63BDA-A145-75F5-CA3E-18EE4364B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E0FA17-19BB-A504-7535-2EA71DC80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DA18F5B-395C-565C-B851-83C0D29A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3E898BB-1E22-4D11-7524-D7164824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8D6DB9-920E-6D06-3431-DD17E2D2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4667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6D4E1-EFB7-CAFD-D472-6F49FD8B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C12F8AF-0E62-3300-9E37-21453D321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C77C87E-D661-FF1F-8FAB-296D14E9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AA6F22-E73F-0FB5-4799-88568078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AD962D8-359B-D226-BDAF-75D984FC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868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81A6D-7384-640E-CA31-D3EA53A0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CA6A7D9-BE07-16EF-9B0E-0CF33E5AC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60002A3-4102-50F4-7229-6EFBABCD5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93FE5FE-4820-9D98-6399-8502EA21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FC49F32-1EE2-E0C1-118C-812B0F8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529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68054B-2A9E-C312-64F7-7830F54D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699D2CD-F575-85D9-D65B-4AB2A1274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A14BB40-974D-BB2E-4F09-F607B8CD0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5025463-C545-1243-95DD-E8D90CFD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B23D066-8A5E-0FCB-F9A3-A0B0FAC7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191DF25-8824-0371-934B-E34C4F0E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153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B10A8-D718-E320-7EFE-F6A38478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179ABCE-6A23-2357-3088-A4EEA4D09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FBF5C078-BD85-3A9F-B1F4-DDF605476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11A7546-05FC-D8B2-9323-585600485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D1DEEE50-E15B-6B7D-4C49-906B4158B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019C540-80DB-A00A-09F4-7C4EFBDC9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F73ECC3F-7B46-EA6C-52C2-FD158162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E1A1E367-390A-AEC5-567F-AE95D51E8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000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F6884-2945-A327-DE8C-418F30844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5192B49-FDD2-8A35-A0ED-CBCE85AC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C7BC6D4-5656-B2DE-2102-78DAF484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FEDBDE1-5D2D-31F3-B04E-B1E7A2C5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587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F706FD7-C723-D505-A713-184C4BC6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7596089-2D9C-94CB-7BE7-56161234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6519EF3-EB33-F5A5-F87D-A712CCC39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478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1DF3D-4A72-69EA-3604-B21B106DD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2AF37B5-CFEB-2EAD-6647-12AC70056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4A65F0C-466B-CD0A-B251-D54FEC267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3A1E301-9827-5085-8181-E0B2DEB1B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EB163F2-935D-5379-DD6B-D5B27021C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5228E1C-35E2-7E80-359C-427C412F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45338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BD5C1-27F0-12D7-83AA-0658218A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1CD347F8-ADEA-91BC-E0E9-9B10FB9F1EA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BFB7044-A507-15B4-BA78-CAED26DB5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43EEF61-8869-1103-B4F4-572EE2CE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10D0912-9DD8-D5FC-9F32-DC554275E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334E856-006B-E998-F1FF-32C92BD3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7534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B6761-3760-3FED-E386-42C3A9B6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3572A4A-A9CD-F357-C03A-311D1456E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F5F664C-AF12-A9EC-A9C2-D0E4278E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FE7B9F8-67B1-04D8-DBE9-A85F373D5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1354647-F26B-3EC3-9E01-269BECE1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34284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494445-A76E-B50A-047C-3F154CCEA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706FD44C-D22E-1112-D84B-EFCC79481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450C928-9867-F4D3-F559-2226F4446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98EECA5-3DB6-D1D8-7517-E949598B1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7D050F9-3CB5-F493-7702-7288B606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377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8AF2B5B7-580C-5FF5-D997-D757D5899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823C10B-AF13-3479-2DCC-99DD514E1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9BB29C2-AFBB-5C42-05E4-D831DEB32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481A4-FDA5-4AB8-BF89-B78BFB0703E4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71A3E66-661F-CC3D-05CF-1B3607153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68C1AA7-1084-3CFC-A111-87FED4CF8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FBBAC-E156-4A9F-BF73-3A17D0E4AC0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436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0EDA12C-1D9B-EBB9-A00C-6ECD87D049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956EBE4-FBED-CE0B-0E3B-83A6F5BBB853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3B8C73D-2882-4596-683D-1E94F7A8BFE8}"/>
              </a:ext>
            </a:extLst>
          </p:cNvPr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55A0914-E376-785F-0313-977ABE2FB56B}"/>
              </a:ext>
            </a:extLst>
          </p:cNvPr>
          <p:cNvSpPr/>
          <p:nvPr/>
        </p:nvSpPr>
        <p:spPr>
          <a:xfrm>
            <a:off x="8953500" y="1333500"/>
            <a:ext cx="2095500" cy="2095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8FC39CC-811E-1A01-8E5D-6CFE1B08F064}"/>
              </a:ext>
            </a:extLst>
          </p:cNvPr>
          <p:cNvSpPr txBox="1"/>
          <p:nvPr/>
        </p:nvSpPr>
        <p:spPr>
          <a:xfrm>
            <a:off x="9550400" y="1524000"/>
            <a:ext cx="9525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7600" b="1">
                <a:solidFill>
                  <a:srgbClr val="171B21"/>
                </a:solidFill>
                <a:latin typeface="Aptos Display" panose="020B0004020202020204" pitchFamily="34" charset="0"/>
              </a:rPr>
              <a:t>+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E3E634-AD56-947B-2FA7-83030A1AE009}"/>
              </a:ext>
            </a:extLst>
          </p:cNvPr>
          <p:cNvSpPr txBox="1"/>
          <p:nvPr/>
        </p:nvSpPr>
        <p:spPr>
          <a:xfrm>
            <a:off x="889000" y="1193800"/>
            <a:ext cx="6604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4500" b="1">
                <a:solidFill>
                  <a:srgbClr val="FFFFFF"/>
                </a:solidFill>
                <a:latin typeface="Aptos Display" panose="020B0004020202020204" pitchFamily="34" charset="0"/>
              </a:rPr>
              <a:t>+Apoio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29EFE8-FFC6-1C9A-67AC-AE6A7769E394}"/>
              </a:ext>
            </a:extLst>
          </p:cNvPr>
          <p:cNvSpPr txBox="1"/>
          <p:nvPr/>
        </p:nvSpPr>
        <p:spPr>
          <a:xfrm>
            <a:off x="939800" y="2209800"/>
            <a:ext cx="685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500" b="1">
                <a:solidFill>
                  <a:srgbClr val="4BB0D7"/>
                </a:solidFill>
                <a:latin typeface="Aptos" panose="020B0004020202020204" pitchFamily="34" charset="0"/>
              </a:rPr>
              <a:t>Plataforma de Apoio Domiciliário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215B490-8D7E-0514-75A8-963576217C93}"/>
              </a:ext>
            </a:extLst>
          </p:cNvPr>
          <p:cNvSpPr txBox="1"/>
          <p:nvPr/>
        </p:nvSpPr>
        <p:spPr>
          <a:xfrm>
            <a:off x="939800" y="3175000"/>
            <a:ext cx="64135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900">
                <a:solidFill>
                  <a:srgbClr val="FFFFFF"/>
                </a:solidFill>
                <a:latin typeface="Aptos" panose="020B0004020202020204" pitchFamily="34" charset="0"/>
              </a:rPr>
              <a:t>Uma solução digital para organizar beneficiários, médicos voluntários e visitas domiciliárias.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B3731B-221A-719E-C6F4-06E346ABC770}"/>
              </a:ext>
            </a:extLst>
          </p:cNvPr>
          <p:cNvSpPr txBox="1"/>
          <p:nvPr/>
        </p:nvSpPr>
        <p:spPr>
          <a:xfrm>
            <a:off x="939800" y="49530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FFFFFF"/>
                </a:solidFill>
                <a:latin typeface="Aptos" panose="020B0004020202020204" pitchFamily="34" charset="0"/>
              </a:rPr>
              <a:t>Prova de Aptidão Profissional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90424D6-8AA9-6737-9148-2E1774C8B2FB}"/>
              </a:ext>
            </a:extLst>
          </p:cNvPr>
          <p:cNvSpPr txBox="1"/>
          <p:nvPr/>
        </p:nvSpPr>
        <p:spPr>
          <a:xfrm>
            <a:off x="939800" y="54229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 dirty="0">
                <a:solidFill>
                  <a:srgbClr val="4BB0D7"/>
                </a:solidFill>
                <a:latin typeface="Aptos" panose="020B0004020202020204" pitchFamily="34" charset="0"/>
              </a:rPr>
              <a:t>Nome: ____________________    Curso: ____________________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436C795-B029-F8D7-4130-D107A0B318FB}"/>
              </a:ext>
            </a:extLst>
          </p:cNvPr>
          <p:cNvSpPr txBox="1"/>
          <p:nvPr/>
        </p:nvSpPr>
        <p:spPr>
          <a:xfrm>
            <a:off x="889000" y="5807662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 dirty="0">
                <a:solidFill>
                  <a:srgbClr val="4BB0D7"/>
                </a:solidFill>
                <a:latin typeface="Aptos" panose="020B0004020202020204" pitchFamily="34" charset="0"/>
              </a:rPr>
              <a:t>Escola: _________________________  |  2026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D08976D-7908-E1C3-DDD3-E4249EB4746F}"/>
              </a:ext>
            </a:extLst>
          </p:cNvPr>
          <p:cNvSpPr txBox="1"/>
          <p:nvPr/>
        </p:nvSpPr>
        <p:spPr>
          <a:xfrm>
            <a:off x="1466850" y="5341982"/>
            <a:ext cx="13906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Rodrigo Silva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2CD831-DEBA-0A8A-0B2D-40EB5C17F80B}"/>
              </a:ext>
            </a:extLst>
          </p:cNvPr>
          <p:cNvSpPr txBox="1"/>
          <p:nvPr/>
        </p:nvSpPr>
        <p:spPr>
          <a:xfrm>
            <a:off x="3543300" y="5341982"/>
            <a:ext cx="86677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IG24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C2E8CC2-47CF-7FE5-63F5-03449788606C}"/>
              </a:ext>
            </a:extLst>
          </p:cNvPr>
          <p:cNvSpPr txBox="1"/>
          <p:nvPr/>
        </p:nvSpPr>
        <p:spPr>
          <a:xfrm>
            <a:off x="1366837" y="5722982"/>
            <a:ext cx="26098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Profissional do infante</a:t>
            </a:r>
          </a:p>
        </p:txBody>
      </p:sp>
    </p:spTree>
    <p:extLst>
      <p:ext uri="{BB962C8B-B14F-4D97-AF65-F5344CB8AC3E}">
        <p14:creationId xmlns:p14="http://schemas.microsoft.com/office/powerpoint/2010/main" val="55267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2F83342-C464-8D63-4F79-64E20A2FA3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83CE025-B573-A86F-ED4B-B2E4D36D324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BF44D5-5C59-7499-F890-5D063659A792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CONTEXTO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39F6DB-B0B9-ECDF-1074-481A9818F890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O desafio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B3AC5C-6E33-D381-58F2-A8B9916A1D8C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732B2F5-B63A-3DEA-88A1-D1CD8EDF5AFC}"/>
              </a:ext>
            </a:extLst>
          </p:cNvPr>
          <p:cNvSpPr txBox="1"/>
          <p:nvPr/>
        </p:nvSpPr>
        <p:spPr>
          <a:xfrm>
            <a:off x="698500" y="1587500"/>
            <a:ext cx="10287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171B21"/>
                </a:solidFill>
                <a:latin typeface="Aptos" panose="020B0004020202020204" pitchFamily="34" charset="0"/>
              </a:rPr>
              <a:t>O apoio domiciliário exige informação organizada e acessível no momento certo.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126F29D-8127-2F35-8010-94B7CE04E2CE}"/>
              </a:ext>
            </a:extLst>
          </p:cNvPr>
          <p:cNvSpPr/>
          <p:nvPr/>
        </p:nvSpPr>
        <p:spPr>
          <a:xfrm>
            <a:off x="698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83F8D95-CBCB-D0CA-8DB5-953CCCB1A375}"/>
              </a:ext>
            </a:extLst>
          </p:cNvPr>
          <p:cNvSpPr/>
          <p:nvPr/>
        </p:nvSpPr>
        <p:spPr>
          <a:xfrm>
            <a:off x="698500" y="2794000"/>
            <a:ext cx="88900" cy="2032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CF57DF-36D4-96DC-3B10-4C9C40299D6B}"/>
              </a:ext>
            </a:extLst>
          </p:cNvPr>
          <p:cNvSpPr txBox="1"/>
          <p:nvPr/>
        </p:nvSpPr>
        <p:spPr>
          <a:xfrm>
            <a:off x="977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Informação dispersa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8E43594-B358-DEA9-29E7-6A45257DE973}"/>
              </a:ext>
            </a:extLst>
          </p:cNvPr>
          <p:cNvSpPr txBox="1"/>
          <p:nvPr/>
        </p:nvSpPr>
        <p:spPr>
          <a:xfrm>
            <a:off x="977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Registos em papel ou ficheiros separados dificultam a consulta e aumentam o risco de falhas.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616160A-80F9-12E4-E9B9-4875AF8E9429}"/>
              </a:ext>
            </a:extLst>
          </p:cNvPr>
          <p:cNvSpPr/>
          <p:nvPr/>
        </p:nvSpPr>
        <p:spPr>
          <a:xfrm>
            <a:off x="4254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079ABFC-7107-95E2-688E-9423CEF1BF38}"/>
              </a:ext>
            </a:extLst>
          </p:cNvPr>
          <p:cNvSpPr/>
          <p:nvPr/>
        </p:nvSpPr>
        <p:spPr>
          <a:xfrm>
            <a:off x="4254500" y="2794000"/>
            <a:ext cx="88900" cy="2032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0B2963-EFE4-5599-79A8-CF6E2454AF17}"/>
              </a:ext>
            </a:extLst>
          </p:cNvPr>
          <p:cNvSpPr txBox="1"/>
          <p:nvPr/>
        </p:nvSpPr>
        <p:spPr>
          <a:xfrm>
            <a:off x="4533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Coordenação difícil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7AA3C60-F080-2F5E-6D68-0A59E5B18C43}"/>
              </a:ext>
            </a:extLst>
          </p:cNvPr>
          <p:cNvSpPr txBox="1"/>
          <p:nvPr/>
        </p:nvSpPr>
        <p:spPr>
          <a:xfrm>
            <a:off x="4533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É necessário relacionar beneficiários, médicos, horários, necessidades e estado das visitas.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CC057FE-F2E0-4272-EBEA-18EB3D5DDFDB}"/>
              </a:ext>
            </a:extLst>
          </p:cNvPr>
          <p:cNvSpPr/>
          <p:nvPr/>
        </p:nvSpPr>
        <p:spPr>
          <a:xfrm>
            <a:off x="7810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FA4FFA4-1802-E02B-5DBA-C9DAAB37D985}"/>
              </a:ext>
            </a:extLst>
          </p:cNvPr>
          <p:cNvSpPr/>
          <p:nvPr/>
        </p:nvSpPr>
        <p:spPr>
          <a:xfrm>
            <a:off x="7810500" y="2794000"/>
            <a:ext cx="88900" cy="2032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6819CD2-C1EB-ED81-B3DF-7AC2AA3FCD3C}"/>
              </a:ext>
            </a:extLst>
          </p:cNvPr>
          <p:cNvSpPr txBox="1"/>
          <p:nvPr/>
        </p:nvSpPr>
        <p:spPr>
          <a:xfrm>
            <a:off x="8089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Deslocações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F1B017F-81A6-FDA2-4CE1-3F74D304B607}"/>
              </a:ext>
            </a:extLst>
          </p:cNvPr>
          <p:cNvSpPr txBox="1"/>
          <p:nvPr/>
        </p:nvSpPr>
        <p:spPr>
          <a:xfrm>
            <a:off x="8089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O profissional precisa de chegar rapidamente à morada correta do beneficiário.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84AF3C6-EC2C-BE6B-1002-195713324E40}"/>
              </a:ext>
            </a:extLst>
          </p:cNvPr>
          <p:cNvSpPr txBox="1"/>
          <p:nvPr/>
        </p:nvSpPr>
        <p:spPr>
          <a:xfrm>
            <a:off x="698500" y="54610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847668"/>
                </a:solidFill>
                <a:latin typeface="Aptos" panose="020B0004020202020204" pitchFamily="34" charset="0"/>
              </a:rPr>
              <a:t>A proposta é centralizar a gestão num painel simples, visual e preparado para evoluir.</a:t>
            </a:r>
          </a:p>
        </p:txBody>
      </p:sp>
    </p:spTree>
    <p:extLst>
      <p:ext uri="{BB962C8B-B14F-4D97-AF65-F5344CB8AC3E}">
        <p14:creationId xmlns:p14="http://schemas.microsoft.com/office/powerpoint/2010/main" val="1613477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EE7EED5-EB58-9408-3491-B67ACB8646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6195008-8E6D-9F3F-25F3-A4121E31F00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61429F3-21CC-DFFC-7BA6-E9C855E0F81E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PLANEAMENTO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875998-7807-93F9-1396-11D249FCCCBE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Objetivos do projeto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018DDCE-D042-CDB7-044D-D4B3E847EC41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A79412A-4FEA-658A-DC21-2C3CF1A0016D}"/>
              </a:ext>
            </a:extLst>
          </p:cNvPr>
          <p:cNvSpPr/>
          <p:nvPr/>
        </p:nvSpPr>
        <p:spPr>
          <a:xfrm>
            <a:off x="952500" y="1778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E43901-AD11-3720-73C5-03AAF1FDDFB9}"/>
              </a:ext>
            </a:extLst>
          </p:cNvPr>
          <p:cNvSpPr txBox="1"/>
          <p:nvPr/>
        </p:nvSpPr>
        <p:spPr>
          <a:xfrm>
            <a:off x="1257300" y="17145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Centralizar os dados dos beneficiários, médicos e apoios.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63996CE-A85C-EF01-AD23-97A97C53B197}"/>
              </a:ext>
            </a:extLst>
          </p:cNvPr>
          <p:cNvSpPr/>
          <p:nvPr/>
        </p:nvSpPr>
        <p:spPr>
          <a:xfrm>
            <a:off x="952500" y="2438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28E34C9-9469-1433-0D19-2044B9C07200}"/>
              </a:ext>
            </a:extLst>
          </p:cNvPr>
          <p:cNvSpPr txBox="1"/>
          <p:nvPr/>
        </p:nvSpPr>
        <p:spPr>
          <a:xfrm>
            <a:off x="1257300" y="23749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Permitir criar, editar, pesquisar e eliminar registos.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8CBF532-1789-3CBB-0152-E3E0A17300F6}"/>
              </a:ext>
            </a:extLst>
          </p:cNvPr>
          <p:cNvSpPr/>
          <p:nvPr/>
        </p:nvSpPr>
        <p:spPr>
          <a:xfrm>
            <a:off x="952500" y="3098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6DE00B1-BC8B-F6B3-94C1-13FEA86EC684}"/>
              </a:ext>
            </a:extLst>
          </p:cNvPr>
          <p:cNvSpPr txBox="1"/>
          <p:nvPr/>
        </p:nvSpPr>
        <p:spPr>
          <a:xfrm>
            <a:off x="1257300" y="30353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Acompanhar a agenda e o estado de cada apoio.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5CB44F9-1188-5C9E-3F79-7232D1174546}"/>
              </a:ext>
            </a:extLst>
          </p:cNvPr>
          <p:cNvSpPr/>
          <p:nvPr/>
        </p:nvSpPr>
        <p:spPr>
          <a:xfrm>
            <a:off x="952500" y="37592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5349431-94A1-C8CB-C295-024E26A0B128}"/>
              </a:ext>
            </a:extLst>
          </p:cNvPr>
          <p:cNvSpPr txBox="1"/>
          <p:nvPr/>
        </p:nvSpPr>
        <p:spPr>
          <a:xfrm>
            <a:off x="1257300" y="36957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Facilitar a deslocação até ao beneficiário através de GPS.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20BBBBA-4BDC-7992-A71F-001CEBA590D7}"/>
              </a:ext>
            </a:extLst>
          </p:cNvPr>
          <p:cNvSpPr/>
          <p:nvPr/>
        </p:nvSpPr>
        <p:spPr>
          <a:xfrm>
            <a:off x="952500" y="44196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E72BAD1-FD19-6722-87E6-67CFE4D196B6}"/>
              </a:ext>
            </a:extLst>
          </p:cNvPr>
          <p:cNvSpPr txBox="1"/>
          <p:nvPr/>
        </p:nvSpPr>
        <p:spPr>
          <a:xfrm>
            <a:off x="1257300" y="43561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Criar uma base sólida para uma aplicação real com autenticação e permissões.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ACFC69F-D931-F514-A0CE-ACAC7D601131}"/>
              </a:ext>
            </a:extLst>
          </p:cNvPr>
          <p:cNvSpPr/>
          <p:nvPr/>
        </p:nvSpPr>
        <p:spPr>
          <a:xfrm>
            <a:off x="8763000" y="1524000"/>
            <a:ext cx="1905000" cy="361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2059F6-A920-06B9-19D4-0232D3394865}"/>
              </a:ext>
            </a:extLst>
          </p:cNvPr>
          <p:cNvSpPr txBox="1"/>
          <p:nvPr/>
        </p:nvSpPr>
        <p:spPr>
          <a:xfrm>
            <a:off x="9169400" y="20066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FOCO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B3D76CB-9B55-DDBE-736C-F20A38F634E6}"/>
              </a:ext>
            </a:extLst>
          </p:cNvPr>
          <p:cNvSpPr txBox="1"/>
          <p:nvPr/>
        </p:nvSpPr>
        <p:spPr>
          <a:xfrm>
            <a:off x="9118600" y="2603500"/>
            <a:ext cx="1333500" cy="17697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300" b="1">
                <a:solidFill>
                  <a:srgbClr val="FFFFFF"/>
                </a:solidFill>
                <a:latin typeface="Aptos Display" panose="020B0004020202020204" pitchFamily="34" charset="0"/>
              </a:rPr>
              <a:t>Organizar -  - Acompanhar -  - Cuidar</a:t>
            </a:r>
          </a:p>
        </p:txBody>
      </p:sp>
    </p:spTree>
    <p:extLst>
      <p:ext uri="{BB962C8B-B14F-4D97-AF65-F5344CB8AC3E}">
        <p14:creationId xmlns:p14="http://schemas.microsoft.com/office/powerpoint/2010/main" val="891642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87F22A6-059E-E259-EC94-ED97D90F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68C993E-905E-196A-E353-4939718694D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952CC8-EFEE-F862-D940-9ED90F1CC38A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CB5B582-0845-BC30-04B2-6DC98858AAE7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Funcionalidades principais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22D768E-BF7B-D812-98E9-3A747C01736C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3688494-9D41-0F48-4B56-2340AED21562}"/>
              </a:ext>
            </a:extLst>
          </p:cNvPr>
          <p:cNvSpPr/>
          <p:nvPr/>
        </p:nvSpPr>
        <p:spPr>
          <a:xfrm>
            <a:off x="698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397F926-EF56-5316-8891-DFE3A49084EA}"/>
              </a:ext>
            </a:extLst>
          </p:cNvPr>
          <p:cNvSpPr/>
          <p:nvPr/>
        </p:nvSpPr>
        <p:spPr>
          <a:xfrm>
            <a:off x="698500" y="15875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449B1DA-9C9B-4B69-ED3D-38045C1F6EE7}"/>
              </a:ext>
            </a:extLst>
          </p:cNvPr>
          <p:cNvSpPr txBox="1"/>
          <p:nvPr/>
        </p:nvSpPr>
        <p:spPr>
          <a:xfrm>
            <a:off x="977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2C04200-FFAD-EA0A-CC1B-AF9DD070A09C}"/>
              </a:ext>
            </a:extLst>
          </p:cNvPr>
          <p:cNvSpPr txBox="1"/>
          <p:nvPr/>
        </p:nvSpPr>
        <p:spPr>
          <a:xfrm>
            <a:off x="977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Indicadores de beneficiários, médicos, apoios agendados e casos prioritários.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5D10D16-2799-04CC-EEC3-92AEBA0B428D}"/>
              </a:ext>
            </a:extLst>
          </p:cNvPr>
          <p:cNvSpPr/>
          <p:nvPr/>
        </p:nvSpPr>
        <p:spPr>
          <a:xfrm>
            <a:off x="44450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D3260FD-9B79-2CC1-1E6C-4D20C0568CD8}"/>
              </a:ext>
            </a:extLst>
          </p:cNvPr>
          <p:cNvSpPr/>
          <p:nvPr/>
        </p:nvSpPr>
        <p:spPr>
          <a:xfrm>
            <a:off x="4445000" y="15875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C3A1BC5-E3DE-0785-7B9B-5692FCB8B917}"/>
              </a:ext>
            </a:extLst>
          </p:cNvPr>
          <p:cNvSpPr txBox="1"/>
          <p:nvPr/>
        </p:nvSpPr>
        <p:spPr>
          <a:xfrm>
            <a:off x="47244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Beneficiários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F4CA90D-6322-784B-6295-A7AD20ECD337}"/>
              </a:ext>
            </a:extLst>
          </p:cNvPr>
          <p:cNvSpPr txBox="1"/>
          <p:nvPr/>
        </p:nvSpPr>
        <p:spPr>
          <a:xfrm>
            <a:off x="47244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Dados pessoais, morada, necessidade, prioridade, contacto e observações.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F4564C2-9B2F-4CB3-1116-3AC64BD76AAD}"/>
              </a:ext>
            </a:extLst>
          </p:cNvPr>
          <p:cNvSpPr/>
          <p:nvPr/>
        </p:nvSpPr>
        <p:spPr>
          <a:xfrm>
            <a:off x="8191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17FED66-1A0C-FD4A-C8A4-229EA1A199C9}"/>
              </a:ext>
            </a:extLst>
          </p:cNvPr>
          <p:cNvSpPr/>
          <p:nvPr/>
        </p:nvSpPr>
        <p:spPr>
          <a:xfrm>
            <a:off x="8191500" y="15875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B51A41E-D160-BF0F-EF32-46E1459299F7}"/>
              </a:ext>
            </a:extLst>
          </p:cNvPr>
          <p:cNvSpPr txBox="1"/>
          <p:nvPr/>
        </p:nvSpPr>
        <p:spPr>
          <a:xfrm>
            <a:off x="8470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Médicos voluntários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0F938DF-0957-1D94-BA85-C91AE0E2ECE8}"/>
              </a:ext>
            </a:extLst>
          </p:cNvPr>
          <p:cNvSpPr txBox="1"/>
          <p:nvPr/>
        </p:nvSpPr>
        <p:spPr>
          <a:xfrm>
            <a:off x="8470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Especialidade, disponibilidade, contacto, localidade e áreas de apoio.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E6E3725-5EFA-3D25-F52B-59EDB283CF2B}"/>
              </a:ext>
            </a:extLst>
          </p:cNvPr>
          <p:cNvSpPr/>
          <p:nvPr/>
        </p:nvSpPr>
        <p:spPr>
          <a:xfrm>
            <a:off x="698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47A4182-C856-2706-EDF3-E02AD8552538}"/>
              </a:ext>
            </a:extLst>
          </p:cNvPr>
          <p:cNvSpPr/>
          <p:nvPr/>
        </p:nvSpPr>
        <p:spPr>
          <a:xfrm>
            <a:off x="698500" y="38100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21D47D1-5AE4-5994-1727-98465136D50D}"/>
              </a:ext>
            </a:extLst>
          </p:cNvPr>
          <p:cNvSpPr txBox="1"/>
          <p:nvPr/>
        </p:nvSpPr>
        <p:spPr>
          <a:xfrm>
            <a:off x="977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Agenda de apoios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BA51DD0-68F2-ADDC-B858-8D4955507B19}"/>
              </a:ext>
            </a:extLst>
          </p:cNvPr>
          <p:cNvSpPr txBox="1"/>
          <p:nvPr/>
        </p:nvSpPr>
        <p:spPr>
          <a:xfrm>
            <a:off x="977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Agendamento, tipo de visita, médico responsável, beneficiário e estado.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D76B214-329D-5147-BDB9-2BAD6E1EE639}"/>
              </a:ext>
            </a:extLst>
          </p:cNvPr>
          <p:cNvSpPr/>
          <p:nvPr/>
        </p:nvSpPr>
        <p:spPr>
          <a:xfrm>
            <a:off x="44450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E59615B-D166-5F39-D019-724F32972840}"/>
              </a:ext>
            </a:extLst>
          </p:cNvPr>
          <p:cNvSpPr/>
          <p:nvPr/>
        </p:nvSpPr>
        <p:spPr>
          <a:xfrm>
            <a:off x="4445000" y="38100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37D72EC-940E-F937-3189-3679723D0AB7}"/>
              </a:ext>
            </a:extLst>
          </p:cNvPr>
          <p:cNvSpPr txBox="1"/>
          <p:nvPr/>
        </p:nvSpPr>
        <p:spPr>
          <a:xfrm>
            <a:off x="47244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Pesquisa e relatórios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AA46AA6-C2F3-2FA5-1E55-5E0B2137125F}"/>
              </a:ext>
            </a:extLst>
          </p:cNvPr>
          <p:cNvSpPr txBox="1"/>
          <p:nvPr/>
        </p:nvSpPr>
        <p:spPr>
          <a:xfrm>
            <a:off x="47244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Filtros, resumo operacional, exportação e cópia de segurança dos dados.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49715EA-68BE-BE85-A53D-6112DDABD9B9}"/>
              </a:ext>
            </a:extLst>
          </p:cNvPr>
          <p:cNvSpPr/>
          <p:nvPr/>
        </p:nvSpPr>
        <p:spPr>
          <a:xfrm>
            <a:off x="8191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3FC6169-9ED4-17AF-7B77-C5A45798F224}"/>
              </a:ext>
            </a:extLst>
          </p:cNvPr>
          <p:cNvSpPr/>
          <p:nvPr/>
        </p:nvSpPr>
        <p:spPr>
          <a:xfrm>
            <a:off x="8191500" y="38100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FF3A394-8587-6CC3-CA83-1C7BD5139D53}"/>
              </a:ext>
            </a:extLst>
          </p:cNvPr>
          <p:cNvSpPr txBox="1"/>
          <p:nvPr/>
        </p:nvSpPr>
        <p:spPr>
          <a:xfrm>
            <a:off x="8470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Navegação GPS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C115F17-B803-522A-D5A1-0B4DB567044A}"/>
              </a:ext>
            </a:extLst>
          </p:cNvPr>
          <p:cNvSpPr txBox="1"/>
          <p:nvPr/>
        </p:nvSpPr>
        <p:spPr>
          <a:xfrm>
            <a:off x="8470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Ação de rota que usa a localização do dispositivo e abre o Google Maps.</a:t>
            </a:r>
          </a:p>
        </p:txBody>
      </p:sp>
    </p:spTree>
    <p:extLst>
      <p:ext uri="{BB962C8B-B14F-4D97-AF65-F5344CB8AC3E}">
        <p14:creationId xmlns:p14="http://schemas.microsoft.com/office/powerpoint/2010/main" val="42176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753FBB-49B6-9E8E-DF09-A80EC7C9D1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0F3C24-8FBF-3B1B-B390-F0BC38D04705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512916-6DD2-8BA0-C29D-2AFF1315DE5A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E39BD17-6808-E170-8406-BFA19417C8F1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Gestão de 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5967575-31B0-1614-EEB7-408F977ECA19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DA9BFCB-BFEF-8F24-6F0A-75744A0C7900}"/>
              </a:ext>
            </a:extLst>
          </p:cNvPr>
          <p:cNvSpPr txBox="1"/>
          <p:nvPr/>
        </p:nvSpPr>
        <p:spPr>
          <a:xfrm>
            <a:off x="698500" y="1524000"/>
            <a:ext cx="1041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A aplicação evoluiu de uma demonstração local para uma arquitetura com servidor.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576CA93-A3E9-1B0C-023F-14C409AFC7A4}"/>
              </a:ext>
            </a:extLst>
          </p:cNvPr>
          <p:cNvSpPr/>
          <p:nvPr/>
        </p:nvSpPr>
        <p:spPr>
          <a:xfrm>
            <a:off x="1016000" y="2794000"/>
            <a:ext cx="2794000" cy="107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9D89FA7-70A0-CC5A-DF74-F7FAD04FCB68}"/>
              </a:ext>
            </a:extLst>
          </p:cNvPr>
          <p:cNvSpPr txBox="1"/>
          <p:nvPr/>
        </p:nvSpPr>
        <p:spPr>
          <a:xfrm>
            <a:off x="1333500" y="3048000"/>
            <a:ext cx="215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Interface - HTML + CSS + JavaScript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E57EDEC-AC50-F0AC-42AE-F9E3A8B86AE8}"/>
              </a:ext>
            </a:extLst>
          </p:cNvPr>
          <p:cNvSpPr txBox="1"/>
          <p:nvPr/>
        </p:nvSpPr>
        <p:spPr>
          <a:xfrm>
            <a:off x="43815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7766BDE-4FB2-F63C-9BD1-6CD9BD62BA27}"/>
              </a:ext>
            </a:extLst>
          </p:cNvPr>
          <p:cNvSpPr/>
          <p:nvPr/>
        </p:nvSpPr>
        <p:spPr>
          <a:xfrm>
            <a:off x="5143500" y="2794000"/>
            <a:ext cx="2794000" cy="1079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E1C4665-42D4-B7CC-5B1B-9C399AE354E6}"/>
              </a:ext>
            </a:extLst>
          </p:cNvPr>
          <p:cNvSpPr txBox="1"/>
          <p:nvPr/>
        </p:nvSpPr>
        <p:spPr>
          <a:xfrm>
            <a:off x="5969000" y="3048000"/>
            <a:ext cx="15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Servidor - PHP + PDO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131D7E5-BADF-1EF9-AEA6-0532FC6669D0}"/>
              </a:ext>
            </a:extLst>
          </p:cNvPr>
          <p:cNvSpPr txBox="1"/>
          <p:nvPr/>
        </p:nvSpPr>
        <p:spPr>
          <a:xfrm>
            <a:off x="85090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2546650-D2CA-E8FA-2DEF-999FF3A62948}"/>
              </a:ext>
            </a:extLst>
          </p:cNvPr>
          <p:cNvSpPr/>
          <p:nvPr/>
        </p:nvSpPr>
        <p:spPr>
          <a:xfrm>
            <a:off x="9271000" y="2794000"/>
            <a:ext cx="1905000" cy="10795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C2C54D9-E256-A847-69AD-E9C95EB52A95}"/>
              </a:ext>
            </a:extLst>
          </p:cNvPr>
          <p:cNvSpPr txBox="1"/>
          <p:nvPr/>
        </p:nvSpPr>
        <p:spPr>
          <a:xfrm>
            <a:off x="9550400" y="3048000"/>
            <a:ext cx="1397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Base de dados - SQLite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E0104E2-9B6F-7370-7E94-2B2EF36F7A25}"/>
              </a:ext>
            </a:extLst>
          </p:cNvPr>
          <p:cNvSpPr/>
          <p:nvPr/>
        </p:nvSpPr>
        <p:spPr>
          <a:xfrm>
            <a:off x="1206500" y="4699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688AE0D-ED2B-1810-A1CB-CE4E02AF1DCA}"/>
              </a:ext>
            </a:extLst>
          </p:cNvPr>
          <p:cNvSpPr txBox="1"/>
          <p:nvPr/>
        </p:nvSpPr>
        <p:spPr>
          <a:xfrm>
            <a:off x="1511300" y="46355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A base é criada automaticamente na primeira execução.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3CE5139-D38D-7EA9-4F1D-8F43F3C80D69}"/>
              </a:ext>
            </a:extLst>
          </p:cNvPr>
          <p:cNvSpPr/>
          <p:nvPr/>
        </p:nvSpPr>
        <p:spPr>
          <a:xfrm>
            <a:off x="1206500" y="5359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E07CF6E-3BBC-0E86-1659-ACE08046ADFB}"/>
              </a:ext>
            </a:extLst>
          </p:cNvPr>
          <p:cNvSpPr txBox="1"/>
          <p:nvPr/>
        </p:nvSpPr>
        <p:spPr>
          <a:xfrm>
            <a:off x="1511300" y="52959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Os dados ficam disponíveis para a aplicação através da API PHP.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BC9E733-427A-633E-2124-2690E754A4D3}"/>
              </a:ext>
            </a:extLst>
          </p:cNvPr>
          <p:cNvSpPr/>
          <p:nvPr/>
        </p:nvSpPr>
        <p:spPr>
          <a:xfrm>
            <a:off x="1206500" y="6019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82C7572-B9D8-0341-7390-2BA33D71EC71}"/>
              </a:ext>
            </a:extLst>
          </p:cNvPr>
          <p:cNvSpPr txBox="1"/>
          <p:nvPr/>
        </p:nvSpPr>
        <p:spPr>
          <a:xfrm>
            <a:off x="1511300" y="59563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 SQLite é gratuito, leve e adequado para o protótipo da PAP.</a:t>
            </a:r>
          </a:p>
        </p:txBody>
      </p:sp>
    </p:spTree>
    <p:extLst>
      <p:ext uri="{BB962C8B-B14F-4D97-AF65-F5344CB8AC3E}">
        <p14:creationId xmlns:p14="http://schemas.microsoft.com/office/powerpoint/2010/main" val="138341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5D83062-DFEF-E823-BDB2-62850BC34F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9586F56-83AD-80B3-BC29-BDDB2FA2CF2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BA20BA6-BFDB-9820-CC8E-8D08B1DB0304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FUNCIONALIDADE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A63006-0FF9-1DCE-DCC1-2CC1F97989B6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Sistema de navegação GPS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4C900C3-31E7-577E-6F08-EE838EB8A4B7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E647026-93CC-F2B9-214F-39386DDAC650}"/>
              </a:ext>
            </a:extLst>
          </p:cNvPr>
          <p:cNvSpPr/>
          <p:nvPr/>
        </p:nvSpPr>
        <p:spPr>
          <a:xfrm>
            <a:off x="825500" y="1587500"/>
            <a:ext cx="4191000" cy="4000500"/>
          </a:xfrm>
          <a:prstGeom prst="roundRect">
            <a:avLst/>
          </a:prstGeom>
          <a:solidFill>
            <a:srgbClr val="F8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06FD27-B13A-7779-1B1B-31FEBEFCA2B6}"/>
              </a:ext>
            </a:extLst>
          </p:cNvPr>
          <p:cNvSpPr txBox="1"/>
          <p:nvPr/>
        </p:nvSpPr>
        <p:spPr>
          <a:xfrm>
            <a:off x="1206500" y="20320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Rota para o beneficiário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206836-95E8-4702-D1A4-4BA6D058FCD2}"/>
              </a:ext>
            </a:extLst>
          </p:cNvPr>
          <p:cNvSpPr txBox="1"/>
          <p:nvPr/>
        </p:nvSpPr>
        <p:spPr>
          <a:xfrm>
            <a:off x="1333500" y="28575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EC0FBBE-91B0-CE78-1B55-AEA375F354E2}"/>
              </a:ext>
            </a:extLst>
          </p:cNvPr>
          <p:cNvSpPr/>
          <p:nvPr/>
        </p:nvSpPr>
        <p:spPr>
          <a:xfrm>
            <a:off x="1333500" y="2857500"/>
            <a:ext cx="508000" cy="508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24CCF7-FFAB-D494-E558-1383C959F46F}"/>
              </a:ext>
            </a:extLst>
          </p:cNvPr>
          <p:cNvSpPr txBox="1"/>
          <p:nvPr/>
        </p:nvSpPr>
        <p:spPr>
          <a:xfrm>
            <a:off x="2095500" y="2921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O médico seleciona o beneficiário.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A9F18A6-00BB-8EC7-EDAC-2F79CED291DB}"/>
              </a:ext>
            </a:extLst>
          </p:cNvPr>
          <p:cNvSpPr/>
          <p:nvPr/>
        </p:nvSpPr>
        <p:spPr>
          <a:xfrm>
            <a:off x="1333500" y="3746500"/>
            <a:ext cx="508000" cy="508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EACE97-F8D2-7144-BC22-C24961501B11}"/>
              </a:ext>
            </a:extLst>
          </p:cNvPr>
          <p:cNvSpPr txBox="1"/>
          <p:nvPr/>
        </p:nvSpPr>
        <p:spPr>
          <a:xfrm>
            <a:off x="1485900" y="3822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0FE626D-1A9E-291B-5027-62FAD536D5B7}"/>
              </a:ext>
            </a:extLst>
          </p:cNvPr>
          <p:cNvSpPr txBox="1"/>
          <p:nvPr/>
        </p:nvSpPr>
        <p:spPr>
          <a:xfrm>
            <a:off x="2095500" y="3810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aplicação pede a localização atual.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B807964-7128-5F5F-1089-4B23CC244B63}"/>
              </a:ext>
            </a:extLst>
          </p:cNvPr>
          <p:cNvSpPr/>
          <p:nvPr/>
        </p:nvSpPr>
        <p:spPr>
          <a:xfrm>
            <a:off x="1333500" y="4635500"/>
            <a:ext cx="508000" cy="508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2874DB7-38DD-3EEB-9D27-132E8982C00A}"/>
              </a:ext>
            </a:extLst>
          </p:cNvPr>
          <p:cNvSpPr txBox="1"/>
          <p:nvPr/>
        </p:nvSpPr>
        <p:spPr>
          <a:xfrm>
            <a:off x="1485900" y="4711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6DEF361-A081-0B72-3D5F-8FD8B4F213A9}"/>
              </a:ext>
            </a:extLst>
          </p:cNvPr>
          <p:cNvSpPr txBox="1"/>
          <p:nvPr/>
        </p:nvSpPr>
        <p:spPr>
          <a:xfrm>
            <a:off x="2095500" y="4699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rota abre no Google Maps.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7B78660-0AC1-9D24-7BFC-97AA01D96950}"/>
              </a:ext>
            </a:extLst>
          </p:cNvPr>
          <p:cNvSpPr txBox="1"/>
          <p:nvPr/>
        </p:nvSpPr>
        <p:spPr>
          <a:xfrm>
            <a:off x="6604000" y="2349500"/>
            <a:ext cx="2413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6200" b="1">
                <a:solidFill>
                  <a:srgbClr val="0D6EE8"/>
                </a:solidFill>
                <a:latin typeface="Aptos Display" panose="020B0004020202020204" pitchFamily="34" charset="0"/>
              </a:rPr>
              <a:t>GPS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453808D-7D4A-84A1-B9E7-89B1369613A1}"/>
              </a:ext>
            </a:extLst>
          </p:cNvPr>
          <p:cNvSpPr txBox="1"/>
          <p:nvPr/>
        </p:nvSpPr>
        <p:spPr>
          <a:xfrm>
            <a:off x="6604000" y="3810000"/>
            <a:ext cx="3810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Se a localização for recusada, a rota continua a funcionar usando a morada do beneficiário.</a:t>
            </a:r>
          </a:p>
        </p:txBody>
      </p:sp>
    </p:spTree>
    <p:extLst>
      <p:ext uri="{BB962C8B-B14F-4D97-AF65-F5344CB8AC3E}">
        <p14:creationId xmlns:p14="http://schemas.microsoft.com/office/powerpoint/2010/main" val="308090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F5A5833-3E5E-D351-FC4F-8052E9A47A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930054F-879A-589A-BD4F-4F8DC44CEE4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A58F2E-B3E4-6311-C426-5013DB8014B5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37482D-1E36-879A-EB0D-3A0C87286427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Tecnologias utilizadas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880EA2-0C57-C9D8-1CB4-1CF168995861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CEACA87-C261-6CE7-3DC9-A0A8D7752F0E}"/>
              </a:ext>
            </a:extLst>
          </p:cNvPr>
          <p:cNvSpPr/>
          <p:nvPr/>
        </p:nvSpPr>
        <p:spPr>
          <a:xfrm>
            <a:off x="889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4410B5A-C834-89AC-56D0-C6C4D58A5769}"/>
              </a:ext>
            </a:extLst>
          </p:cNvPr>
          <p:cNvSpPr/>
          <p:nvPr/>
        </p:nvSpPr>
        <p:spPr>
          <a:xfrm>
            <a:off x="889000" y="17780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1143DD1-5155-AA2B-1D48-F6CF7D49F4F3}"/>
              </a:ext>
            </a:extLst>
          </p:cNvPr>
          <p:cNvSpPr txBox="1"/>
          <p:nvPr/>
        </p:nvSpPr>
        <p:spPr>
          <a:xfrm>
            <a:off x="1168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HTML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B66E729-0BD4-E6C8-7E87-A6F19E571EA1}"/>
              </a:ext>
            </a:extLst>
          </p:cNvPr>
          <p:cNvSpPr txBox="1"/>
          <p:nvPr/>
        </p:nvSpPr>
        <p:spPr>
          <a:xfrm>
            <a:off x="1168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Estrutura das páginas e formulários da aplicação.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63D4F96-FD6B-F518-FC09-E787F85B0191}"/>
              </a:ext>
            </a:extLst>
          </p:cNvPr>
          <p:cNvSpPr/>
          <p:nvPr/>
        </p:nvSpPr>
        <p:spPr>
          <a:xfrm>
            <a:off x="45085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F51B7F5-0F53-DBFF-2FF2-C5A781ED53B5}"/>
              </a:ext>
            </a:extLst>
          </p:cNvPr>
          <p:cNvSpPr/>
          <p:nvPr/>
        </p:nvSpPr>
        <p:spPr>
          <a:xfrm>
            <a:off x="4508500" y="1778000"/>
            <a:ext cx="88900" cy="1905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A44543E-52CD-272C-FAAD-F8F8AB997F17}"/>
              </a:ext>
            </a:extLst>
          </p:cNvPr>
          <p:cNvSpPr txBox="1"/>
          <p:nvPr/>
        </p:nvSpPr>
        <p:spPr>
          <a:xfrm>
            <a:off x="47879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CSS + Bootstrap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44B751E-DB1C-3F63-852F-6CEDDB63586D}"/>
              </a:ext>
            </a:extLst>
          </p:cNvPr>
          <p:cNvSpPr txBox="1"/>
          <p:nvPr/>
        </p:nvSpPr>
        <p:spPr>
          <a:xfrm>
            <a:off x="4787900" y="24765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Layout responsivo, cartões, tabelas, modais e componentes visuais.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E51DE4F-B789-5FED-F443-34D605904E46}"/>
              </a:ext>
            </a:extLst>
          </p:cNvPr>
          <p:cNvSpPr/>
          <p:nvPr/>
        </p:nvSpPr>
        <p:spPr>
          <a:xfrm>
            <a:off x="8128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B1E998F-814F-E480-90F2-39838C5A0FA4}"/>
              </a:ext>
            </a:extLst>
          </p:cNvPr>
          <p:cNvSpPr/>
          <p:nvPr/>
        </p:nvSpPr>
        <p:spPr>
          <a:xfrm>
            <a:off x="8128000" y="17780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D683023-629B-E47C-5849-39A133BC810F}"/>
              </a:ext>
            </a:extLst>
          </p:cNvPr>
          <p:cNvSpPr txBox="1"/>
          <p:nvPr/>
        </p:nvSpPr>
        <p:spPr>
          <a:xfrm>
            <a:off x="8407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JavaScript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0B9B0DC-6E32-84BB-52D7-75FFC05F97FD}"/>
              </a:ext>
            </a:extLst>
          </p:cNvPr>
          <p:cNvSpPr txBox="1"/>
          <p:nvPr/>
        </p:nvSpPr>
        <p:spPr>
          <a:xfrm>
            <a:off x="8407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Navegação, validação, filtros, renderização e integração GPS.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5CA6071-98ED-B9F0-7E0E-5410F4080A53}"/>
              </a:ext>
            </a:extLst>
          </p:cNvPr>
          <p:cNvSpPr/>
          <p:nvPr/>
        </p:nvSpPr>
        <p:spPr>
          <a:xfrm>
            <a:off x="27305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C8E3201-F464-126B-F0F8-B6A6E5FF9D6F}"/>
              </a:ext>
            </a:extLst>
          </p:cNvPr>
          <p:cNvSpPr/>
          <p:nvPr/>
        </p:nvSpPr>
        <p:spPr>
          <a:xfrm>
            <a:off x="2730500" y="42545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00AE08D-23AC-A088-1E83-FA56488CF564}"/>
              </a:ext>
            </a:extLst>
          </p:cNvPr>
          <p:cNvSpPr txBox="1"/>
          <p:nvPr/>
        </p:nvSpPr>
        <p:spPr>
          <a:xfrm>
            <a:off x="30099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PHP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5887300-D4FB-F5F8-88E9-B7EA14CCC0CD}"/>
              </a:ext>
            </a:extLst>
          </p:cNvPr>
          <p:cNvSpPr txBox="1"/>
          <p:nvPr/>
        </p:nvSpPr>
        <p:spPr>
          <a:xfrm>
            <a:off x="3009900" y="49530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API no servidor para receber, validar e guardar os dados.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4BE8630-2970-48F4-BA45-EF0C633714C7}"/>
              </a:ext>
            </a:extLst>
          </p:cNvPr>
          <p:cNvSpPr/>
          <p:nvPr/>
        </p:nvSpPr>
        <p:spPr>
          <a:xfrm>
            <a:off x="63500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0DFAA78-B7FE-A19B-EF95-3AC77E0FA5C1}"/>
              </a:ext>
            </a:extLst>
          </p:cNvPr>
          <p:cNvSpPr/>
          <p:nvPr/>
        </p:nvSpPr>
        <p:spPr>
          <a:xfrm>
            <a:off x="6350000" y="42545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545D512-0472-F823-CA4A-9BC5D2F20CD9}"/>
              </a:ext>
            </a:extLst>
          </p:cNvPr>
          <p:cNvSpPr txBox="1"/>
          <p:nvPr/>
        </p:nvSpPr>
        <p:spPr>
          <a:xfrm>
            <a:off x="66294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SQLite + PDO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49BDCE6-EADD-7027-80E7-A18A90E738CA}"/>
              </a:ext>
            </a:extLst>
          </p:cNvPr>
          <p:cNvSpPr txBox="1"/>
          <p:nvPr/>
        </p:nvSpPr>
        <p:spPr>
          <a:xfrm>
            <a:off x="6629400" y="49530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Base de dados relacional local, sem custos de instalação de servidor de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1036391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B545AB-E8DB-A77F-7CC5-953C55DC45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EC783A2-BA63-794D-3634-CA38860CD64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125C60-38F5-B625-E51A-2AD30291D151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ARQUITETURA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5ACDA2-DD9A-6A8D-BAF7-13E337A70BB0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Como funciona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5A0855E-0C50-448F-CA94-0385F7DCF501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08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AAD61E-18F1-7D7B-A890-EF145F0067E3}"/>
              </a:ext>
            </a:extLst>
          </p:cNvPr>
          <p:cNvSpPr txBox="1"/>
          <p:nvPr/>
        </p:nvSpPr>
        <p:spPr>
          <a:xfrm>
            <a:off x="698500" y="1587500"/>
            <a:ext cx="762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Fluxo de uma operação na aplicação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CA4CB06-2C26-ECDA-0B5F-425E49CC7680}"/>
              </a:ext>
            </a:extLst>
          </p:cNvPr>
          <p:cNvSpPr/>
          <p:nvPr/>
        </p:nvSpPr>
        <p:spPr>
          <a:xfrm>
            <a:off x="889000" y="2667000"/>
            <a:ext cx="2159000" cy="1143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C18F9B7-CF73-4AD1-1772-067A4A08FE7F}"/>
              </a:ext>
            </a:extLst>
          </p:cNvPr>
          <p:cNvSpPr txBox="1"/>
          <p:nvPr/>
        </p:nvSpPr>
        <p:spPr>
          <a:xfrm>
            <a:off x="1168400" y="2997200"/>
            <a:ext cx="15875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Utilizador - Médico / coordenação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45EF0EC-1F2A-43F2-D504-71E753B4CD12}"/>
              </a:ext>
            </a:extLst>
          </p:cNvPr>
          <p:cNvSpPr txBox="1"/>
          <p:nvPr/>
        </p:nvSpPr>
        <p:spPr>
          <a:xfrm>
            <a:off x="3429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BA690A4-E017-1F2F-D3C8-F06CBAB867FD}"/>
              </a:ext>
            </a:extLst>
          </p:cNvPr>
          <p:cNvSpPr/>
          <p:nvPr/>
        </p:nvSpPr>
        <p:spPr>
          <a:xfrm>
            <a:off x="4318000" y="2667000"/>
            <a:ext cx="2159000" cy="1143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24A2F51-8E37-0880-3296-ECC2571E7DBA}"/>
              </a:ext>
            </a:extLst>
          </p:cNvPr>
          <p:cNvSpPr txBox="1"/>
          <p:nvPr/>
        </p:nvSpPr>
        <p:spPr>
          <a:xfrm>
            <a:off x="4889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Interface - Cuida+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411BFB-EA45-FEBF-A29E-39DA2D7BC822}"/>
              </a:ext>
            </a:extLst>
          </p:cNvPr>
          <p:cNvSpPr txBox="1"/>
          <p:nvPr/>
        </p:nvSpPr>
        <p:spPr>
          <a:xfrm>
            <a:off x="6858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DDFF2DB-40D1-7C57-5494-585144CBCEAE}"/>
              </a:ext>
            </a:extLst>
          </p:cNvPr>
          <p:cNvSpPr/>
          <p:nvPr/>
        </p:nvSpPr>
        <p:spPr>
          <a:xfrm>
            <a:off x="7747000" y="2667000"/>
            <a:ext cx="2159000" cy="1143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5DC3E7E-463D-8288-5053-BA56BB92DA08}"/>
              </a:ext>
            </a:extLst>
          </p:cNvPr>
          <p:cNvSpPr txBox="1"/>
          <p:nvPr/>
        </p:nvSpPr>
        <p:spPr>
          <a:xfrm>
            <a:off x="8318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API PHP - api.php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C9A0BA1-B47B-C3F1-174F-559C353052E0}"/>
              </a:ext>
            </a:extLst>
          </p:cNvPr>
          <p:cNvSpPr txBox="1"/>
          <p:nvPr/>
        </p:nvSpPr>
        <p:spPr>
          <a:xfrm>
            <a:off x="10287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9D7B1F5-186A-6290-4C7A-975FC39C4166}"/>
              </a:ext>
            </a:extLst>
          </p:cNvPr>
          <p:cNvSpPr/>
          <p:nvPr/>
        </p:nvSpPr>
        <p:spPr>
          <a:xfrm>
            <a:off x="10795000" y="2667000"/>
            <a:ext cx="952500" cy="11430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F327A22-DBB2-8BCC-4751-365DDD135645}"/>
              </a:ext>
            </a:extLst>
          </p:cNvPr>
          <p:cNvSpPr txBox="1"/>
          <p:nvPr/>
        </p:nvSpPr>
        <p:spPr>
          <a:xfrm>
            <a:off x="10934700" y="3111500"/>
            <a:ext cx="685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SQLite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337A15B-98D4-0BD2-75F2-0808D380D81A}"/>
              </a:ext>
            </a:extLst>
          </p:cNvPr>
          <p:cNvSpPr txBox="1"/>
          <p:nvPr/>
        </p:nvSpPr>
        <p:spPr>
          <a:xfrm>
            <a:off x="1143000" y="4762500"/>
            <a:ext cx="965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847668"/>
                </a:solidFill>
                <a:latin typeface="Aptos" panose="020B0004020202020204" pitchFamily="34" charset="0"/>
              </a:rPr>
              <a:t>A interface mantém uma cópia local de segurança, enquanto o servidor centraliza os dados quando o PHP está disponível.</a:t>
            </a:r>
          </a:p>
        </p:txBody>
      </p:sp>
    </p:spTree>
    <p:extLst>
      <p:ext uri="{BB962C8B-B14F-4D97-AF65-F5344CB8AC3E}">
        <p14:creationId xmlns:p14="http://schemas.microsoft.com/office/powerpoint/2010/main" val="2597942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E0332D2-E884-FB34-CA69-884C85182860}"/>
              </a:ext>
            </a:extLst>
          </p:cNvPr>
          <p:cNvSpPr/>
          <p:nvPr/>
        </p:nvSpPr>
        <p:spPr>
          <a:xfrm>
            <a:off x="9525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EF3CC2A-F978-EBD9-1770-B045B7F14B4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32BF58-5858-F94B-1E17-55DB09DA5AB5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APRESENTAÇÃO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EF7CBF5-04BF-F402-142C-CC1E439ADC8C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Demonstração da aplicação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0F13BCA-B23A-6979-8112-A0136FE347A5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2BBB6CD-7FD8-BD21-FAC3-F0D31CD59E18}"/>
              </a:ext>
            </a:extLst>
          </p:cNvPr>
          <p:cNvSpPr/>
          <p:nvPr/>
        </p:nvSpPr>
        <p:spPr>
          <a:xfrm>
            <a:off x="698500" y="1498600"/>
            <a:ext cx="6350000" cy="381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5D5E163-0C79-1B8E-9D01-E01B35A4BCC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625600"/>
            <a:ext cx="6096000" cy="34290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BCEBB84E-4864-9853-A79B-5038C673C2D3}"/>
              </a:ext>
            </a:extLst>
          </p:cNvPr>
          <p:cNvSpPr txBox="1"/>
          <p:nvPr/>
        </p:nvSpPr>
        <p:spPr>
          <a:xfrm>
            <a:off x="825500" y="5168900"/>
            <a:ext cx="609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dirty="0">
                <a:solidFill>
                  <a:srgbClr val="847668"/>
                </a:solidFill>
                <a:latin typeface="Aptos" panose="020B0004020202020204" pitchFamily="34" charset="0"/>
              </a:rPr>
              <a:t>Interface real da aplicação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2F29D25-00F5-62A5-3D94-C6584AE72E5F}"/>
              </a:ext>
            </a:extLst>
          </p:cNvPr>
          <p:cNvSpPr txBox="1"/>
          <p:nvPr/>
        </p:nvSpPr>
        <p:spPr>
          <a:xfrm>
            <a:off x="7747000" y="1625600"/>
            <a:ext cx="355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Um fluxo simples para cada visita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A040F4F-2ABD-B9FC-6335-4E749844D5F3}"/>
              </a:ext>
            </a:extLst>
          </p:cNvPr>
          <p:cNvSpPr/>
          <p:nvPr/>
        </p:nvSpPr>
        <p:spPr>
          <a:xfrm>
            <a:off x="7810500" y="2476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715D21F-D3C6-25F2-B7DC-6E633D45A2F9}"/>
              </a:ext>
            </a:extLst>
          </p:cNvPr>
          <p:cNvSpPr txBox="1"/>
          <p:nvPr/>
        </p:nvSpPr>
        <p:spPr>
          <a:xfrm>
            <a:off x="8115300" y="24130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Consultar o dashboard e os indicadores.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2676B0B-D6FB-E04E-6A95-8A7070B5F550}"/>
              </a:ext>
            </a:extLst>
          </p:cNvPr>
          <p:cNvSpPr/>
          <p:nvPr/>
        </p:nvSpPr>
        <p:spPr>
          <a:xfrm>
            <a:off x="7810500" y="3136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B0E00D8-C008-0213-66E6-969A52FADFED}"/>
              </a:ext>
            </a:extLst>
          </p:cNvPr>
          <p:cNvSpPr txBox="1"/>
          <p:nvPr/>
        </p:nvSpPr>
        <p:spPr>
          <a:xfrm>
            <a:off x="8115300" y="30734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Pesquisar beneficiários e necessidades.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7879EAA-FC08-E35A-9E12-9F883859D74C}"/>
              </a:ext>
            </a:extLst>
          </p:cNvPr>
          <p:cNvSpPr/>
          <p:nvPr/>
        </p:nvSpPr>
        <p:spPr>
          <a:xfrm>
            <a:off x="7810500" y="3797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7E78C01-7683-EF6B-822A-559C90D3B93A}"/>
              </a:ext>
            </a:extLst>
          </p:cNvPr>
          <p:cNvSpPr txBox="1"/>
          <p:nvPr/>
        </p:nvSpPr>
        <p:spPr>
          <a:xfrm>
            <a:off x="8115300" y="37338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Agendar apoios e atualizar estados.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200D535F-3EE7-0ED0-FB26-1D759160EF8D}"/>
              </a:ext>
            </a:extLst>
          </p:cNvPr>
          <p:cNvSpPr/>
          <p:nvPr/>
        </p:nvSpPr>
        <p:spPr>
          <a:xfrm>
            <a:off x="7810500" y="4457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E99266E-CBA0-13D2-642D-346583998C67}"/>
              </a:ext>
            </a:extLst>
          </p:cNvPr>
          <p:cNvSpPr txBox="1"/>
          <p:nvPr/>
        </p:nvSpPr>
        <p:spPr>
          <a:xfrm>
            <a:off x="8115300" y="4394200"/>
            <a:ext cx="3492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Abrir a rota GPS para a visita.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F1C3285-538F-43D9-752C-094580F960FE}"/>
              </a:ext>
            </a:extLst>
          </p:cNvPr>
          <p:cNvSpPr/>
          <p:nvPr/>
        </p:nvSpPr>
        <p:spPr>
          <a:xfrm>
            <a:off x="7810500" y="5143500"/>
            <a:ext cx="3048000" cy="5334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69F9647-A47A-0F40-B307-F3D072A7C6D2}"/>
              </a:ext>
            </a:extLst>
          </p:cNvPr>
          <p:cNvSpPr txBox="1"/>
          <p:nvPr/>
        </p:nvSpPr>
        <p:spPr>
          <a:xfrm>
            <a:off x="8089900" y="52959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Do pedido ao acompanhamento</a:t>
            </a:r>
          </a:p>
        </p:txBody>
      </p:sp>
    </p:spTree>
    <p:extLst>
      <p:ext uri="{BB962C8B-B14F-4D97-AF65-F5344CB8AC3E}">
        <p14:creationId xmlns:p14="http://schemas.microsoft.com/office/powerpoint/2010/main" val="3237188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1196A4B-F247-9938-5073-602DE5C67B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8217FEB-11A4-D66D-C5FE-E0021E249B0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552348-44FC-658F-6056-CF64F52834ED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ENCERRAMENTO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08168C-0C32-8A84-9019-8AB1CEE68534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Conclusão e evolução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50DB69-4BCE-8B03-B55E-6BAEDBBA290D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10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DC679D-E989-A60F-9CA7-7BC480F784FB}"/>
              </a:ext>
            </a:extLst>
          </p:cNvPr>
          <p:cNvSpPr txBox="1"/>
          <p:nvPr/>
        </p:nvSpPr>
        <p:spPr>
          <a:xfrm>
            <a:off x="825500" y="1587500"/>
            <a:ext cx="444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O que já foi alcançado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71119AF-A80D-B37E-4EA5-84EAB8B95D3C}"/>
              </a:ext>
            </a:extLst>
          </p:cNvPr>
          <p:cNvSpPr/>
          <p:nvPr/>
        </p:nvSpPr>
        <p:spPr>
          <a:xfrm>
            <a:off x="9525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5EED0A5-4F28-6DCE-1253-28F8D1E3F9C6}"/>
              </a:ext>
            </a:extLst>
          </p:cNvPr>
          <p:cNvSpPr txBox="1"/>
          <p:nvPr/>
        </p:nvSpPr>
        <p:spPr>
          <a:xfrm>
            <a:off x="1257300" y="2286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Protótipo funcional de apoio domiciliário.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177DB91-1166-6CA1-E84F-EF3951F245F6}"/>
              </a:ext>
            </a:extLst>
          </p:cNvPr>
          <p:cNvSpPr/>
          <p:nvPr/>
        </p:nvSpPr>
        <p:spPr>
          <a:xfrm>
            <a:off x="9525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675907B-42E1-9290-885A-2A53968F202A}"/>
              </a:ext>
            </a:extLst>
          </p:cNvPr>
          <p:cNvSpPr txBox="1"/>
          <p:nvPr/>
        </p:nvSpPr>
        <p:spPr>
          <a:xfrm>
            <a:off x="1257300" y="2946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Gestão integrada de informação operacional.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1466592-8186-5653-8FBF-87E6CD109E92}"/>
              </a:ext>
            </a:extLst>
          </p:cNvPr>
          <p:cNvSpPr/>
          <p:nvPr/>
        </p:nvSpPr>
        <p:spPr>
          <a:xfrm>
            <a:off x="9525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0424CA-49DA-5D1B-6250-7CE259259752}"/>
              </a:ext>
            </a:extLst>
          </p:cNvPr>
          <p:cNvSpPr txBox="1"/>
          <p:nvPr/>
        </p:nvSpPr>
        <p:spPr>
          <a:xfrm>
            <a:off x="1257300" y="36068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Base SQLite ligada através de PHP.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042B216-F4C1-43B9-74F7-F7C7919C577D}"/>
              </a:ext>
            </a:extLst>
          </p:cNvPr>
          <p:cNvSpPr/>
          <p:nvPr/>
        </p:nvSpPr>
        <p:spPr>
          <a:xfrm>
            <a:off x="9525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6E5C557-4C8E-62E8-B8A3-30BA0062DC32}"/>
              </a:ext>
            </a:extLst>
          </p:cNvPr>
          <p:cNvSpPr txBox="1"/>
          <p:nvPr/>
        </p:nvSpPr>
        <p:spPr>
          <a:xfrm>
            <a:off x="1257300" y="4267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Navegação GPS para apoiar as visitas.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46249F0-1672-18EE-4C94-E2C661C6C7F3}"/>
              </a:ext>
            </a:extLst>
          </p:cNvPr>
          <p:cNvSpPr txBox="1"/>
          <p:nvPr/>
        </p:nvSpPr>
        <p:spPr>
          <a:xfrm>
            <a:off x="6858000" y="1587500"/>
            <a:ext cx="381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Próximos passos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8E25CCB-47A5-CEDE-FF6A-29B7A965096E}"/>
              </a:ext>
            </a:extLst>
          </p:cNvPr>
          <p:cNvSpPr/>
          <p:nvPr/>
        </p:nvSpPr>
        <p:spPr>
          <a:xfrm>
            <a:off x="69850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0F583D5-7B0A-5D33-61B3-48929933B7CF}"/>
              </a:ext>
            </a:extLst>
          </p:cNvPr>
          <p:cNvSpPr txBox="1"/>
          <p:nvPr/>
        </p:nvSpPr>
        <p:spPr>
          <a:xfrm>
            <a:off x="7289800" y="2286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Autenticação e perfis de utilizador.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C7BC896-DF57-78EE-98D0-AA5F640723CF}"/>
              </a:ext>
            </a:extLst>
          </p:cNvPr>
          <p:cNvSpPr/>
          <p:nvPr/>
        </p:nvSpPr>
        <p:spPr>
          <a:xfrm>
            <a:off x="69850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020C3FC-A7BF-2BD0-B2D2-BEDC5080D2C4}"/>
              </a:ext>
            </a:extLst>
          </p:cNvPr>
          <p:cNvSpPr txBox="1"/>
          <p:nvPr/>
        </p:nvSpPr>
        <p:spPr>
          <a:xfrm>
            <a:off x="7289800" y="2946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Permissões e auditoria de acessos.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E7FA3D5-76C7-F76B-4C51-2039F4C32599}"/>
              </a:ext>
            </a:extLst>
          </p:cNvPr>
          <p:cNvSpPr/>
          <p:nvPr/>
        </p:nvSpPr>
        <p:spPr>
          <a:xfrm>
            <a:off x="69850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D1CD89E-4695-3059-3191-85CC2BA0A341}"/>
              </a:ext>
            </a:extLst>
          </p:cNvPr>
          <p:cNvSpPr txBox="1"/>
          <p:nvPr/>
        </p:nvSpPr>
        <p:spPr>
          <a:xfrm>
            <a:off x="7289800" y="3606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Cópias de segurança automáticas.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40C14785-1C88-FB40-7815-2658F9B38112}"/>
              </a:ext>
            </a:extLst>
          </p:cNvPr>
          <p:cNvSpPr/>
          <p:nvPr/>
        </p:nvSpPr>
        <p:spPr>
          <a:xfrm>
            <a:off x="69850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3966F43-8EA0-497D-A61A-84F600C0C10E}"/>
              </a:ext>
            </a:extLst>
          </p:cNvPr>
          <p:cNvSpPr txBox="1"/>
          <p:nvPr/>
        </p:nvSpPr>
        <p:spPr>
          <a:xfrm>
            <a:off x="7289800" y="4267200"/>
            <a:ext cx="4318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Cumprimento das regras de proteção de dados.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145F6AB-F67A-A01D-D8D6-4F48DD349B8A}"/>
              </a:ext>
            </a:extLst>
          </p:cNvPr>
          <p:cNvSpPr/>
          <p:nvPr/>
        </p:nvSpPr>
        <p:spPr>
          <a:xfrm>
            <a:off x="825500" y="5461000"/>
            <a:ext cx="10477500" cy="5334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D28222A-9CCD-F221-6189-F2EBB57B0245}"/>
              </a:ext>
            </a:extLst>
          </p:cNvPr>
          <p:cNvSpPr txBox="1"/>
          <p:nvPr/>
        </p:nvSpPr>
        <p:spPr>
          <a:xfrm>
            <a:off x="3175000" y="5613400"/>
            <a:ext cx="584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+Apoio : tecnologia para apoiar quem cuida.</a:t>
            </a:r>
          </a:p>
        </p:txBody>
      </p:sp>
    </p:spTree>
    <p:extLst>
      <p:ext uri="{BB962C8B-B14F-4D97-AF65-F5344CB8AC3E}">
        <p14:creationId xmlns:p14="http://schemas.microsoft.com/office/powerpoint/2010/main" val="22032691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689</Words>
  <Application>Microsoft Office PowerPoint</Application>
  <PresentationFormat>Apresentação no Ecrã (16:9)</PresentationFormat>
  <Paragraphs>119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Alexandre Paredes da Silva</dc:creator>
  <cp:lastModifiedBy>Rodrigo Alexandre Paredes da Silva</cp:lastModifiedBy>
  <cp:revision>1</cp:revision>
  <dcterms:created xsi:type="dcterms:W3CDTF">2026-10-09T14:03:35Z</dcterms:created>
  <dcterms:modified xsi:type="dcterms:W3CDTF">2026-10-09T14:06:49Z</dcterms:modified>
</cp:coreProperties>
</file>