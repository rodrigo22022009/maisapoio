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pt-PT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648960-9F16-02AD-4C60-8C71F2892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8E093A-C723-3021-3FD7-EBE0FEF76A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3230D16-27E4-EE89-3747-3B2F16340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BFF1-368B-43E2-899A-8A44BBEDAE81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6858C3F-70C4-485A-69D0-85F5F7E9A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A2F91BF-E6B3-0B46-42C9-A0D782DB9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246F3-1CE2-4F4C-B386-679521A860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3765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6BCD1C-B66E-4F73-92D0-269DE1E17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454AB03-E8D6-1C85-8F84-3530289B9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0980CE7-14EE-754B-9AD1-301E59AC5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BFF1-368B-43E2-899A-8A44BBEDAE81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00B7903-8698-2FF2-F27F-619A1BC24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3293AA3-077A-3808-DE6B-0A2E370D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246F3-1CE2-4F4C-B386-679521A860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427021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21ABBE-7C43-209D-220E-7000A0CB4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C1A299A-8371-22C6-F54B-859CCF5FB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F6720A8-2C93-A5C0-B806-19C9725CC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BFF1-368B-43E2-899A-8A44BBEDAE81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359359D-7BF4-B60C-1C6F-C6F3819FF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2EDCE59E-A2D5-ECEC-9807-0E3F203B2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246F3-1CE2-4F4C-B386-679521A860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1441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432D78-028B-70F4-10E1-20CCB5409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8F78531-E491-E34A-EBA1-714128C0CA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0E9708A9-9380-F0D4-5F1D-AE427E6982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671D48EE-D890-7097-1B79-05F2A4643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BFF1-368B-43E2-899A-8A44BBEDAE81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B0596650-1C61-DB55-AE39-748E97BDF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A22B2B65-C29A-977C-6E9D-404B95208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246F3-1CE2-4F4C-B386-679521A860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71831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7CA54-215D-9AD8-E812-B266E93CA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0AFF2809-8306-78D4-25E5-864E810D3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DD3A1C2E-9B49-887F-8E8A-96446C9F86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481C2A85-9616-897F-786F-9B0580D28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B7772631-4C73-626B-92A7-31F7CAA272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54724D05-865E-BB07-FE40-080B6A9CE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BFF1-368B-43E2-899A-8A44BBEDAE81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D7BA4C39-F8FB-03E9-6EED-26B4C5D56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B2A3A502-A94E-31FB-29FC-31217233E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246F3-1CE2-4F4C-B386-679521A860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34438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2A56FE-E03D-488A-CA12-575D34AB3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0CFE04DC-A70C-8F51-3A9E-A16631DD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BFF1-368B-43E2-899A-8A44BBEDAE81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99D23FCD-37A6-0388-8243-F6F555DC7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01E02C1-C432-9BDB-BF6A-A97F8DAC2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246F3-1CE2-4F4C-B386-679521A860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53727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A9950FF1-5CFA-83A0-60EE-627CDA831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BFF1-368B-43E2-899A-8A44BBEDAE81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F73CA094-7413-2865-F234-75B9A3BBE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9514C4C2-95CF-9C9A-4D40-FCFC3F37C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246F3-1CE2-4F4C-B386-679521A860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90636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53120B-215C-CD00-AC5A-318D4BDAB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C890BBD-53E2-B0EA-2451-3DC0AD586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38842749-EE74-D821-BC2F-B8975E83E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80D0172-2AB9-1996-8003-396BCE278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BFF1-368B-43E2-899A-8A44BBEDAE81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A09600B3-BFE2-695B-F26D-CD2404DFE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62FE3955-2242-E7B3-625C-F1681B54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246F3-1CE2-4F4C-B386-679521A860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91695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97BF86-43D4-0931-E617-449881DD1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90BF6584-CC5E-08FF-C7C8-88BC2D78C39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D50AFA10-C344-9BD7-26F3-79B8EC337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B93C88DF-6264-54E6-AA69-F9B70F8B2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BFF1-368B-43E2-899A-8A44BBEDAE81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82CC05AB-83D3-8B26-14EE-4C07C3B61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58558CB2-0070-549F-022F-A85931140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246F3-1CE2-4F4C-B386-679521A860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8835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E63E44-CCEB-F0C6-E99D-A54F30E11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3526DB01-EFB2-1050-8C6E-796EB1EA0D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209DFE8-7A52-DFB2-4CED-95A1FDED3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BFF1-368B-43E2-899A-8A44BBEDAE81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15A6D0A0-6982-62C6-F4B9-DCD9EAA29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39C5FA1-37F4-BF79-BDB3-40D79FC3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246F3-1CE2-4F4C-B386-679521A860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31204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7384F62-5551-CCF8-EEAF-4DA60F2352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9ADF7340-1DC4-BAAE-188A-A9B7889E9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952292E-DA2D-0D2A-288B-76BC2173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EBFF1-368B-43E2-899A-8A44BBEDAE81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B8A4F0F-3448-1DFB-62B3-310CD1C1E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7D1A813-2A38-CC65-EBCF-DE5B76B85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B246F3-1CE2-4F4C-B386-679521A860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617268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C891556D-25B5-243F-71A4-8E70341F1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E40DF441-193D-0C49-60D7-7D4813CED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E05B18A-13F8-9DBC-1CEB-B0FAE4170C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BEBFF1-368B-43E2-899A-8A44BBEDAE81}" type="datetimeFigureOut">
              <a:rPr lang="pt-PT" smtClean="0"/>
              <a:t>09/10/2026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528315A-93F7-E245-581C-77E10384B6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4EC5F8AE-A507-4297-A9DC-8490BDC7C4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B246F3-1CE2-4F4C-B386-679521A8609A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1296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3F25C157-A641-4F9D-E576-DC1745DCFB7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71B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B0274D4-D2C2-499C-F83A-BE4CEE5B62C8}"/>
              </a:ext>
            </a:extLst>
          </p:cNvPr>
          <p:cNvSpPr/>
          <p:nvPr/>
        </p:nvSpPr>
        <p:spPr>
          <a:xfrm>
            <a:off x="0" y="0"/>
            <a:ext cx="12192000" cy="2032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AB475B5-8492-1A95-519F-08E4CEDDF3E0}"/>
              </a:ext>
            </a:extLst>
          </p:cNvPr>
          <p:cNvSpPr/>
          <p:nvPr/>
        </p:nvSpPr>
        <p:spPr>
          <a:xfrm>
            <a:off x="8382000" y="0"/>
            <a:ext cx="38100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78BDF2D-2DB7-6E29-8282-F7B8990FC600}"/>
              </a:ext>
            </a:extLst>
          </p:cNvPr>
          <p:cNvSpPr/>
          <p:nvPr/>
        </p:nvSpPr>
        <p:spPr>
          <a:xfrm>
            <a:off x="8953500" y="1333500"/>
            <a:ext cx="2095500" cy="2095500"/>
          </a:xfrm>
          <a:prstGeom prst="round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6CD6600-BF46-F5ED-A4E4-2BF5DAB1385B}"/>
              </a:ext>
            </a:extLst>
          </p:cNvPr>
          <p:cNvSpPr txBox="1"/>
          <p:nvPr/>
        </p:nvSpPr>
        <p:spPr>
          <a:xfrm>
            <a:off x="9550400" y="1524000"/>
            <a:ext cx="952500" cy="11695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7600" b="1">
                <a:solidFill>
                  <a:srgbClr val="171B21"/>
                </a:solidFill>
                <a:latin typeface="Aptos Display" panose="020B0004020202020204" pitchFamily="34" charset="0"/>
              </a:rPr>
              <a:t>+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01604E3-C879-EEB3-00A2-0DDAEF2988DC}"/>
              </a:ext>
            </a:extLst>
          </p:cNvPr>
          <p:cNvSpPr txBox="1"/>
          <p:nvPr/>
        </p:nvSpPr>
        <p:spPr>
          <a:xfrm>
            <a:off x="889000" y="1193800"/>
            <a:ext cx="6604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4500" b="1">
                <a:solidFill>
                  <a:srgbClr val="FFFFFF"/>
                </a:solidFill>
                <a:latin typeface="Aptos Display" panose="020B0004020202020204" pitchFamily="34" charset="0"/>
              </a:rPr>
              <a:t>+Apoio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7470EC3-62BA-4281-3782-F81748D41226}"/>
              </a:ext>
            </a:extLst>
          </p:cNvPr>
          <p:cNvSpPr txBox="1"/>
          <p:nvPr/>
        </p:nvSpPr>
        <p:spPr>
          <a:xfrm>
            <a:off x="939800" y="2209800"/>
            <a:ext cx="6858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500" b="1">
                <a:solidFill>
                  <a:srgbClr val="4BB0D7"/>
                </a:solidFill>
                <a:latin typeface="Aptos" panose="020B0004020202020204" pitchFamily="34" charset="0"/>
              </a:rPr>
              <a:t>Plataforma de Apoio Domiciliário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83B69CB-2C6B-B1F9-BDA8-4BBA9A2ABCC8}"/>
              </a:ext>
            </a:extLst>
          </p:cNvPr>
          <p:cNvSpPr txBox="1"/>
          <p:nvPr/>
        </p:nvSpPr>
        <p:spPr>
          <a:xfrm>
            <a:off x="939800" y="3175000"/>
            <a:ext cx="64135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900">
                <a:solidFill>
                  <a:srgbClr val="FFFFFF"/>
                </a:solidFill>
                <a:latin typeface="Aptos" panose="020B0004020202020204" pitchFamily="34" charset="0"/>
              </a:rPr>
              <a:t>Uma solução digital para organizar beneficiários, médicos voluntários e visitas domiciliárias.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771DF91-129C-79DA-B347-D548F941A231}"/>
              </a:ext>
            </a:extLst>
          </p:cNvPr>
          <p:cNvSpPr txBox="1"/>
          <p:nvPr/>
        </p:nvSpPr>
        <p:spPr>
          <a:xfrm>
            <a:off x="939800" y="4953000"/>
            <a:ext cx="381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 b="1">
                <a:solidFill>
                  <a:srgbClr val="FFFFFF"/>
                </a:solidFill>
                <a:latin typeface="Aptos" panose="020B0004020202020204" pitchFamily="34" charset="0"/>
              </a:rPr>
              <a:t>Prova de Aptidão Profissional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BF718EA-589A-D84D-4E64-EF86FAFEEAD5}"/>
              </a:ext>
            </a:extLst>
          </p:cNvPr>
          <p:cNvSpPr txBox="1"/>
          <p:nvPr/>
        </p:nvSpPr>
        <p:spPr>
          <a:xfrm>
            <a:off x="939800" y="5422900"/>
            <a:ext cx="635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200">
                <a:solidFill>
                  <a:srgbClr val="4BB0D7"/>
                </a:solidFill>
                <a:latin typeface="Aptos" panose="020B0004020202020204" pitchFamily="34" charset="0"/>
              </a:rPr>
              <a:t>Nome: ____________________    Curso: ____________________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3F6B7F6-7CF0-96B3-40E2-BB9B19BF3CC3}"/>
              </a:ext>
            </a:extLst>
          </p:cNvPr>
          <p:cNvSpPr txBox="1"/>
          <p:nvPr/>
        </p:nvSpPr>
        <p:spPr>
          <a:xfrm>
            <a:off x="939800" y="5816600"/>
            <a:ext cx="635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200">
                <a:solidFill>
                  <a:srgbClr val="4BB0D7"/>
                </a:solidFill>
                <a:latin typeface="Aptos" panose="020B0004020202020204" pitchFamily="34" charset="0"/>
              </a:rPr>
              <a:t>Escola: ____________________  |  2026</a:t>
            </a:r>
          </a:p>
        </p:txBody>
      </p:sp>
    </p:spTree>
    <p:extLst>
      <p:ext uri="{BB962C8B-B14F-4D97-AF65-F5344CB8AC3E}">
        <p14:creationId xmlns:p14="http://schemas.microsoft.com/office/powerpoint/2010/main" val="3025606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D89BC29-0B83-DB16-80F2-31A8D6FB16A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A29F411-C747-EFC0-0EB8-6195D88270FA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B4B1D56-D939-9631-8224-568117C4AA85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CONTEXTO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0CC8114-C5E2-3087-69D1-05A1207CF627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O desafio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EB1D19D-8A41-0235-01CE-A4827594167B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02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E045DFC-FA1F-70E3-C11D-ACE884F1FAEB}"/>
              </a:ext>
            </a:extLst>
          </p:cNvPr>
          <p:cNvSpPr txBox="1"/>
          <p:nvPr/>
        </p:nvSpPr>
        <p:spPr>
          <a:xfrm>
            <a:off x="698500" y="1587500"/>
            <a:ext cx="10287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400" b="1">
                <a:solidFill>
                  <a:srgbClr val="171B21"/>
                </a:solidFill>
                <a:latin typeface="Aptos" panose="020B0004020202020204" pitchFamily="34" charset="0"/>
              </a:rPr>
              <a:t>O apoio domiciliário exige informação organizada e acessível no momento certo.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36F02DF-B0CA-AEA7-8100-152E77F15627}"/>
              </a:ext>
            </a:extLst>
          </p:cNvPr>
          <p:cNvSpPr/>
          <p:nvPr/>
        </p:nvSpPr>
        <p:spPr>
          <a:xfrm>
            <a:off x="698500" y="2794000"/>
            <a:ext cx="3175000" cy="203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1CDFC66-69CB-1630-E22D-653C2E7E43FE}"/>
              </a:ext>
            </a:extLst>
          </p:cNvPr>
          <p:cNvSpPr/>
          <p:nvPr/>
        </p:nvSpPr>
        <p:spPr>
          <a:xfrm>
            <a:off x="698500" y="2794000"/>
            <a:ext cx="88900" cy="2032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302B34F-4674-F83F-2E6F-E0801C97482C}"/>
              </a:ext>
            </a:extLst>
          </p:cNvPr>
          <p:cNvSpPr txBox="1"/>
          <p:nvPr/>
        </p:nvSpPr>
        <p:spPr>
          <a:xfrm>
            <a:off x="977900" y="30226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Informação dispersa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96E5F34-733A-3013-C1B6-AA0381FF9906}"/>
              </a:ext>
            </a:extLst>
          </p:cNvPr>
          <p:cNvSpPr txBox="1"/>
          <p:nvPr/>
        </p:nvSpPr>
        <p:spPr>
          <a:xfrm>
            <a:off x="977900" y="3492500"/>
            <a:ext cx="2667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Registos em papel ou ficheiros separados dificultam a consulta e aumentam o risco de falhas.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3C2C2CD-AA55-E0C7-9207-07CFB2864E36}"/>
              </a:ext>
            </a:extLst>
          </p:cNvPr>
          <p:cNvSpPr/>
          <p:nvPr/>
        </p:nvSpPr>
        <p:spPr>
          <a:xfrm>
            <a:off x="4254500" y="2794000"/>
            <a:ext cx="3175000" cy="203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0FB9FC7-F24F-F7B6-84C9-F6F8D7EEE733}"/>
              </a:ext>
            </a:extLst>
          </p:cNvPr>
          <p:cNvSpPr/>
          <p:nvPr/>
        </p:nvSpPr>
        <p:spPr>
          <a:xfrm>
            <a:off x="4254500" y="2794000"/>
            <a:ext cx="88900" cy="20320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2A2E15B-33E1-2977-2026-99AE25EFFFF3}"/>
              </a:ext>
            </a:extLst>
          </p:cNvPr>
          <p:cNvSpPr txBox="1"/>
          <p:nvPr/>
        </p:nvSpPr>
        <p:spPr>
          <a:xfrm>
            <a:off x="4533900" y="30226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Coordenação difícil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795678E-DC11-8E6C-E5DA-8268C16DE1B2}"/>
              </a:ext>
            </a:extLst>
          </p:cNvPr>
          <p:cNvSpPr txBox="1"/>
          <p:nvPr/>
        </p:nvSpPr>
        <p:spPr>
          <a:xfrm>
            <a:off x="4533900" y="3492500"/>
            <a:ext cx="2667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É necessário relacionar beneficiários, médicos, horários, necessidades e estado das visitas.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1E60E9D5-1600-B3F1-CD13-879E195A9383}"/>
              </a:ext>
            </a:extLst>
          </p:cNvPr>
          <p:cNvSpPr/>
          <p:nvPr/>
        </p:nvSpPr>
        <p:spPr>
          <a:xfrm>
            <a:off x="7810500" y="2794000"/>
            <a:ext cx="3175000" cy="203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7AA6DF12-7097-6A66-CA07-928546C3131D}"/>
              </a:ext>
            </a:extLst>
          </p:cNvPr>
          <p:cNvSpPr/>
          <p:nvPr/>
        </p:nvSpPr>
        <p:spPr>
          <a:xfrm>
            <a:off x="7810500" y="2794000"/>
            <a:ext cx="88900" cy="20320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700693BD-860B-098F-959B-BA2E26118090}"/>
              </a:ext>
            </a:extLst>
          </p:cNvPr>
          <p:cNvSpPr txBox="1"/>
          <p:nvPr/>
        </p:nvSpPr>
        <p:spPr>
          <a:xfrm>
            <a:off x="8089900" y="3022600"/>
            <a:ext cx="2667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Deslocações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7CD8AC5-5B54-6532-3E13-ACF84211ECF0}"/>
              </a:ext>
            </a:extLst>
          </p:cNvPr>
          <p:cNvSpPr txBox="1"/>
          <p:nvPr/>
        </p:nvSpPr>
        <p:spPr>
          <a:xfrm>
            <a:off x="8089900" y="3492500"/>
            <a:ext cx="2667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O profissional precisa de chegar rapidamente à morada correta do beneficiário.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CDB8E38B-DCC9-DF82-AAEF-EE3337EAD586}"/>
              </a:ext>
            </a:extLst>
          </p:cNvPr>
          <p:cNvSpPr txBox="1"/>
          <p:nvPr/>
        </p:nvSpPr>
        <p:spPr>
          <a:xfrm>
            <a:off x="698500" y="5461000"/>
            <a:ext cx="1028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847668"/>
                </a:solidFill>
                <a:latin typeface="Aptos" panose="020B0004020202020204" pitchFamily="34" charset="0"/>
              </a:rPr>
              <a:t>A proposta é centralizar a gestão num painel simples, visual e preparado para evoluir.</a:t>
            </a:r>
          </a:p>
        </p:txBody>
      </p:sp>
    </p:spTree>
    <p:extLst>
      <p:ext uri="{BB962C8B-B14F-4D97-AF65-F5344CB8AC3E}">
        <p14:creationId xmlns:p14="http://schemas.microsoft.com/office/powerpoint/2010/main" val="2647748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B20656-2461-F27C-92EF-4CA01BA9C8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05B07BC-A640-FE13-A481-BF0E90359002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25E27CA-7489-309F-5766-F61C23D11B89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PLANEAMENTO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7BC04A0-8019-0C89-7AC7-6C816FA0E80A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Objetivos do projeto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4019584-65C9-7ED2-E0E2-EDC885ABCC07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03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7A1D2985-1F13-94AD-E824-2F109BA71550}"/>
              </a:ext>
            </a:extLst>
          </p:cNvPr>
          <p:cNvSpPr/>
          <p:nvPr/>
        </p:nvSpPr>
        <p:spPr>
          <a:xfrm>
            <a:off x="952500" y="17780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C7ABE0D-A857-1D49-E529-309A8BE08D6E}"/>
              </a:ext>
            </a:extLst>
          </p:cNvPr>
          <p:cNvSpPr txBox="1"/>
          <p:nvPr/>
        </p:nvSpPr>
        <p:spPr>
          <a:xfrm>
            <a:off x="1257300" y="1714500"/>
            <a:ext cx="1003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>
                <a:solidFill>
                  <a:srgbClr val="383226"/>
                </a:solidFill>
                <a:latin typeface="Aptos" panose="020B0004020202020204" pitchFamily="34" charset="0"/>
              </a:rPr>
              <a:t>Centralizar os dados dos beneficiários, médicos e apoios.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13E51B04-8F14-75AD-B81E-D4E55936FE82}"/>
              </a:ext>
            </a:extLst>
          </p:cNvPr>
          <p:cNvSpPr/>
          <p:nvPr/>
        </p:nvSpPr>
        <p:spPr>
          <a:xfrm>
            <a:off x="952500" y="24384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51B17B2-A3A5-4B8C-E9A3-BBD083E0735F}"/>
              </a:ext>
            </a:extLst>
          </p:cNvPr>
          <p:cNvSpPr txBox="1"/>
          <p:nvPr/>
        </p:nvSpPr>
        <p:spPr>
          <a:xfrm>
            <a:off x="1257300" y="2374900"/>
            <a:ext cx="1003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>
                <a:solidFill>
                  <a:srgbClr val="383226"/>
                </a:solidFill>
                <a:latin typeface="Aptos" panose="020B0004020202020204" pitchFamily="34" charset="0"/>
              </a:rPr>
              <a:t>Permitir criar, editar, pesquisar e eliminar registos.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516E85B-1E52-BB42-2556-1634463BF36B}"/>
              </a:ext>
            </a:extLst>
          </p:cNvPr>
          <p:cNvSpPr/>
          <p:nvPr/>
        </p:nvSpPr>
        <p:spPr>
          <a:xfrm>
            <a:off x="952500" y="30988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B186670-D15B-2267-A862-361113869C30}"/>
              </a:ext>
            </a:extLst>
          </p:cNvPr>
          <p:cNvSpPr txBox="1"/>
          <p:nvPr/>
        </p:nvSpPr>
        <p:spPr>
          <a:xfrm>
            <a:off x="1257300" y="3035300"/>
            <a:ext cx="1003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>
                <a:solidFill>
                  <a:srgbClr val="383226"/>
                </a:solidFill>
                <a:latin typeface="Aptos" panose="020B0004020202020204" pitchFamily="34" charset="0"/>
              </a:rPr>
              <a:t>Acompanhar a agenda e o estado de cada apoio.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DDF101C-AE42-F524-FD5E-78AE42B17738}"/>
              </a:ext>
            </a:extLst>
          </p:cNvPr>
          <p:cNvSpPr/>
          <p:nvPr/>
        </p:nvSpPr>
        <p:spPr>
          <a:xfrm>
            <a:off x="952500" y="37592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88622796-489F-7CD3-46DC-451ED04EECA2}"/>
              </a:ext>
            </a:extLst>
          </p:cNvPr>
          <p:cNvSpPr txBox="1"/>
          <p:nvPr/>
        </p:nvSpPr>
        <p:spPr>
          <a:xfrm>
            <a:off x="1257300" y="3695700"/>
            <a:ext cx="1003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>
                <a:solidFill>
                  <a:srgbClr val="383226"/>
                </a:solidFill>
                <a:latin typeface="Aptos" panose="020B0004020202020204" pitchFamily="34" charset="0"/>
              </a:rPr>
              <a:t>Facilitar a deslocação até ao beneficiário através de GPS.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3A25AF3-E957-A54F-D9AF-06664EEF5A9F}"/>
              </a:ext>
            </a:extLst>
          </p:cNvPr>
          <p:cNvSpPr/>
          <p:nvPr/>
        </p:nvSpPr>
        <p:spPr>
          <a:xfrm>
            <a:off x="952500" y="44196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81A70E0-C496-4842-4BEE-C537DDFCF5B7}"/>
              </a:ext>
            </a:extLst>
          </p:cNvPr>
          <p:cNvSpPr txBox="1"/>
          <p:nvPr/>
        </p:nvSpPr>
        <p:spPr>
          <a:xfrm>
            <a:off x="1257300" y="4356100"/>
            <a:ext cx="10033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>
                <a:solidFill>
                  <a:srgbClr val="383226"/>
                </a:solidFill>
                <a:latin typeface="Aptos" panose="020B0004020202020204" pitchFamily="34" charset="0"/>
              </a:rPr>
              <a:t>Criar uma base sólida para uma aplicação real com autenticação e permissões.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8666931-290C-5548-EE51-3B23005951F4}"/>
              </a:ext>
            </a:extLst>
          </p:cNvPr>
          <p:cNvSpPr/>
          <p:nvPr/>
        </p:nvSpPr>
        <p:spPr>
          <a:xfrm>
            <a:off x="8763000" y="1524000"/>
            <a:ext cx="1905000" cy="36195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21CE1D7F-3180-77C4-6BFB-91E4BAC2CD5A}"/>
              </a:ext>
            </a:extLst>
          </p:cNvPr>
          <p:cNvSpPr txBox="1"/>
          <p:nvPr/>
        </p:nvSpPr>
        <p:spPr>
          <a:xfrm>
            <a:off x="9169400" y="2006600"/>
            <a:ext cx="1143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300" b="1">
                <a:solidFill>
                  <a:srgbClr val="FFFFFF"/>
                </a:solidFill>
                <a:latin typeface="Aptos" panose="020B0004020202020204" pitchFamily="34" charset="0"/>
              </a:rPr>
              <a:t>FOCO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2DBF42E7-1DC6-13FC-7CB2-E225DED37380}"/>
              </a:ext>
            </a:extLst>
          </p:cNvPr>
          <p:cNvSpPr txBox="1"/>
          <p:nvPr/>
        </p:nvSpPr>
        <p:spPr>
          <a:xfrm>
            <a:off x="9118600" y="2603500"/>
            <a:ext cx="1333500" cy="17697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300" b="1">
                <a:solidFill>
                  <a:srgbClr val="FFFFFF"/>
                </a:solidFill>
                <a:latin typeface="Aptos Display" panose="020B0004020202020204" pitchFamily="34" charset="0"/>
              </a:rPr>
              <a:t>Organizar -  - Acompanhar -  - Cuidar</a:t>
            </a:r>
          </a:p>
        </p:txBody>
      </p:sp>
    </p:spTree>
    <p:extLst>
      <p:ext uri="{BB962C8B-B14F-4D97-AF65-F5344CB8AC3E}">
        <p14:creationId xmlns:p14="http://schemas.microsoft.com/office/powerpoint/2010/main" val="6963195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B6E9EC2-F10F-1AC2-A338-D9A57A3287D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31114E9-1459-0A04-557D-338E7DC382BB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653ABA0-0BE3-3455-91C8-EF44FB69EACF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SOLUÇÃO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EF19526-21E6-A833-2723-7CE9C7BB2EDE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Funcionalidades principais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73A956F-459B-31B8-B988-3BDECFC5F9C5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04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C4A782C-DAB7-59F5-972D-481ACB34BFF1}"/>
              </a:ext>
            </a:extLst>
          </p:cNvPr>
          <p:cNvSpPr/>
          <p:nvPr/>
        </p:nvSpPr>
        <p:spPr>
          <a:xfrm>
            <a:off x="698500" y="15875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167C515-C872-7591-3AAB-49D33C9E1D5C}"/>
              </a:ext>
            </a:extLst>
          </p:cNvPr>
          <p:cNvSpPr/>
          <p:nvPr/>
        </p:nvSpPr>
        <p:spPr>
          <a:xfrm>
            <a:off x="698500" y="1587500"/>
            <a:ext cx="88900" cy="17145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D0915B7-7D5F-3FEB-9711-672D0CA33157}"/>
              </a:ext>
            </a:extLst>
          </p:cNvPr>
          <p:cNvSpPr txBox="1"/>
          <p:nvPr/>
        </p:nvSpPr>
        <p:spPr>
          <a:xfrm>
            <a:off x="977900" y="18161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Dashboard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322C1FE-33C3-E32E-B5D3-5B381DBA2B0C}"/>
              </a:ext>
            </a:extLst>
          </p:cNvPr>
          <p:cNvSpPr txBox="1"/>
          <p:nvPr/>
        </p:nvSpPr>
        <p:spPr>
          <a:xfrm>
            <a:off x="977900" y="22860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Indicadores de beneficiários, médicos, apoios agendados e casos prioritários.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AD0CFBC1-ABCB-4B53-0367-D0B7A3706B0A}"/>
              </a:ext>
            </a:extLst>
          </p:cNvPr>
          <p:cNvSpPr/>
          <p:nvPr/>
        </p:nvSpPr>
        <p:spPr>
          <a:xfrm>
            <a:off x="4445000" y="15875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2E289C3-B040-3B74-1A61-28398364C9D1}"/>
              </a:ext>
            </a:extLst>
          </p:cNvPr>
          <p:cNvSpPr/>
          <p:nvPr/>
        </p:nvSpPr>
        <p:spPr>
          <a:xfrm>
            <a:off x="4445000" y="1587500"/>
            <a:ext cx="88900" cy="17145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9185F08-F9C0-2684-850C-F8C461515A5E}"/>
              </a:ext>
            </a:extLst>
          </p:cNvPr>
          <p:cNvSpPr txBox="1"/>
          <p:nvPr/>
        </p:nvSpPr>
        <p:spPr>
          <a:xfrm>
            <a:off x="4724400" y="18161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Beneficiários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E83D770-A36C-B99C-063D-76740A4942CB}"/>
              </a:ext>
            </a:extLst>
          </p:cNvPr>
          <p:cNvSpPr txBox="1"/>
          <p:nvPr/>
        </p:nvSpPr>
        <p:spPr>
          <a:xfrm>
            <a:off x="4724400" y="22860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Dados pessoais, morada, necessidade, prioridade, contacto e observações.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953FE4F-9A5E-7EC1-8D12-2381EC628BFD}"/>
              </a:ext>
            </a:extLst>
          </p:cNvPr>
          <p:cNvSpPr/>
          <p:nvPr/>
        </p:nvSpPr>
        <p:spPr>
          <a:xfrm>
            <a:off x="8191500" y="15875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3020400B-DD1A-74F7-85EE-EAC0112F0187}"/>
              </a:ext>
            </a:extLst>
          </p:cNvPr>
          <p:cNvSpPr/>
          <p:nvPr/>
        </p:nvSpPr>
        <p:spPr>
          <a:xfrm>
            <a:off x="8191500" y="1587500"/>
            <a:ext cx="88900" cy="17145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3EF0E81-8322-DBF9-6291-E2ED164A4B2C}"/>
              </a:ext>
            </a:extLst>
          </p:cNvPr>
          <p:cNvSpPr txBox="1"/>
          <p:nvPr/>
        </p:nvSpPr>
        <p:spPr>
          <a:xfrm>
            <a:off x="8470900" y="18161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Médicos voluntários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D62B835-4623-693D-7BCB-2AFD933BDF84}"/>
              </a:ext>
            </a:extLst>
          </p:cNvPr>
          <p:cNvSpPr txBox="1"/>
          <p:nvPr/>
        </p:nvSpPr>
        <p:spPr>
          <a:xfrm>
            <a:off x="8470900" y="22860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Especialidade, disponibilidade, contacto, localidade e áreas de apoio.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EE43179F-D314-AC75-EBDA-24331FEB0B11}"/>
              </a:ext>
            </a:extLst>
          </p:cNvPr>
          <p:cNvSpPr/>
          <p:nvPr/>
        </p:nvSpPr>
        <p:spPr>
          <a:xfrm>
            <a:off x="698500" y="38100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F70C0D79-D4B2-C76A-9D3E-929B12B4DEBB}"/>
              </a:ext>
            </a:extLst>
          </p:cNvPr>
          <p:cNvSpPr/>
          <p:nvPr/>
        </p:nvSpPr>
        <p:spPr>
          <a:xfrm>
            <a:off x="698500" y="3810000"/>
            <a:ext cx="88900" cy="17145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734A88C-17ED-1F70-4EE2-5CB600AA7F33}"/>
              </a:ext>
            </a:extLst>
          </p:cNvPr>
          <p:cNvSpPr txBox="1"/>
          <p:nvPr/>
        </p:nvSpPr>
        <p:spPr>
          <a:xfrm>
            <a:off x="977900" y="4038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Agenda de apoios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930250E-B04F-1E66-0A77-E12762F0C3AB}"/>
              </a:ext>
            </a:extLst>
          </p:cNvPr>
          <p:cNvSpPr txBox="1"/>
          <p:nvPr/>
        </p:nvSpPr>
        <p:spPr>
          <a:xfrm>
            <a:off x="977900" y="45085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Agendamento, tipo de visita, médico responsável, beneficiário e estado.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7B082211-B2CA-E771-DBC0-E53691EC6076}"/>
              </a:ext>
            </a:extLst>
          </p:cNvPr>
          <p:cNvSpPr/>
          <p:nvPr/>
        </p:nvSpPr>
        <p:spPr>
          <a:xfrm>
            <a:off x="4445000" y="38100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7D69254-2999-8F2F-26A1-B351E34E0335}"/>
              </a:ext>
            </a:extLst>
          </p:cNvPr>
          <p:cNvSpPr/>
          <p:nvPr/>
        </p:nvSpPr>
        <p:spPr>
          <a:xfrm>
            <a:off x="4445000" y="3810000"/>
            <a:ext cx="88900" cy="17145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236DEB6C-B1E9-D871-B6FF-BFDEFB5292B7}"/>
              </a:ext>
            </a:extLst>
          </p:cNvPr>
          <p:cNvSpPr txBox="1"/>
          <p:nvPr/>
        </p:nvSpPr>
        <p:spPr>
          <a:xfrm>
            <a:off x="4724400" y="4038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Pesquisa e relatórios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33C94691-C4CF-33BB-81BA-182796E579D0}"/>
              </a:ext>
            </a:extLst>
          </p:cNvPr>
          <p:cNvSpPr txBox="1"/>
          <p:nvPr/>
        </p:nvSpPr>
        <p:spPr>
          <a:xfrm>
            <a:off x="4724400" y="45085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Filtros, resumo operacional, exportação e cópia de segurança dos dados.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7E6EB438-DAFB-B99C-C26C-8A6028B75DFF}"/>
              </a:ext>
            </a:extLst>
          </p:cNvPr>
          <p:cNvSpPr/>
          <p:nvPr/>
        </p:nvSpPr>
        <p:spPr>
          <a:xfrm>
            <a:off x="8191500" y="3810000"/>
            <a:ext cx="3302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5F4237F8-1256-1B80-AB65-9103E7D6DD9D}"/>
              </a:ext>
            </a:extLst>
          </p:cNvPr>
          <p:cNvSpPr/>
          <p:nvPr/>
        </p:nvSpPr>
        <p:spPr>
          <a:xfrm>
            <a:off x="8191500" y="3810000"/>
            <a:ext cx="88900" cy="17145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2B0C9988-98DF-80C4-5229-1A2DEC43202F}"/>
              </a:ext>
            </a:extLst>
          </p:cNvPr>
          <p:cNvSpPr txBox="1"/>
          <p:nvPr/>
        </p:nvSpPr>
        <p:spPr>
          <a:xfrm>
            <a:off x="8470900" y="4038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Navegação GPS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96B3EF21-EF68-D8F0-E8B5-5C5001DBA8A9}"/>
              </a:ext>
            </a:extLst>
          </p:cNvPr>
          <p:cNvSpPr txBox="1"/>
          <p:nvPr/>
        </p:nvSpPr>
        <p:spPr>
          <a:xfrm>
            <a:off x="8470900" y="45085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Ação de rota que usa a localização do dispositivo e abre o Google Maps.</a:t>
            </a:r>
          </a:p>
        </p:txBody>
      </p:sp>
    </p:spTree>
    <p:extLst>
      <p:ext uri="{BB962C8B-B14F-4D97-AF65-F5344CB8AC3E}">
        <p14:creationId xmlns:p14="http://schemas.microsoft.com/office/powerpoint/2010/main" val="1329919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A1D20E6-F241-9610-DDBB-32C2D9EF29E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BF28D51-6FDA-708C-FC96-6F9BB662857C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9AFDF3C-C3B8-A857-A887-633789B6FDF7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IMPLEMENTAÇÃO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EF847A2-5B2A-A150-E844-169558E0D908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Gestão de dados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DEE7621-B018-B556-32D6-E44C78E57713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05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DCD671E-0A90-4602-5D47-A3AB5D478BA7}"/>
              </a:ext>
            </a:extLst>
          </p:cNvPr>
          <p:cNvSpPr txBox="1"/>
          <p:nvPr/>
        </p:nvSpPr>
        <p:spPr>
          <a:xfrm>
            <a:off x="698500" y="1524000"/>
            <a:ext cx="10414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 b="1">
                <a:solidFill>
                  <a:srgbClr val="171B21"/>
                </a:solidFill>
                <a:latin typeface="Aptos" panose="020B0004020202020204" pitchFamily="34" charset="0"/>
              </a:rPr>
              <a:t>A aplicação evoluiu de uma demonstração local para uma arquitetura com servidor.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7562487-7109-E8AC-81CF-1ECBEA1AA4DA}"/>
              </a:ext>
            </a:extLst>
          </p:cNvPr>
          <p:cNvSpPr/>
          <p:nvPr/>
        </p:nvSpPr>
        <p:spPr>
          <a:xfrm>
            <a:off x="1016000" y="2794000"/>
            <a:ext cx="2794000" cy="10795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5AA2F4E-05C4-0AEF-4170-7A214188B946}"/>
              </a:ext>
            </a:extLst>
          </p:cNvPr>
          <p:cNvSpPr txBox="1"/>
          <p:nvPr/>
        </p:nvSpPr>
        <p:spPr>
          <a:xfrm>
            <a:off x="1333500" y="3048000"/>
            <a:ext cx="2159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 b="1">
                <a:solidFill>
                  <a:srgbClr val="FFFFFF"/>
                </a:solidFill>
                <a:latin typeface="Aptos" panose="020B0004020202020204" pitchFamily="34" charset="0"/>
              </a:rPr>
              <a:t>Interface - HTML + CSS + JavaScript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A6521A6-95F0-79C8-F8F1-D65C75E200C7}"/>
              </a:ext>
            </a:extLst>
          </p:cNvPr>
          <p:cNvSpPr txBox="1"/>
          <p:nvPr/>
        </p:nvSpPr>
        <p:spPr>
          <a:xfrm>
            <a:off x="4381500" y="3022600"/>
            <a:ext cx="5715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2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02BCB9C-1CAF-57E2-0EC3-48491A45764F}"/>
              </a:ext>
            </a:extLst>
          </p:cNvPr>
          <p:cNvSpPr/>
          <p:nvPr/>
        </p:nvSpPr>
        <p:spPr>
          <a:xfrm>
            <a:off x="5143500" y="2794000"/>
            <a:ext cx="2794000" cy="1079500"/>
          </a:xfrm>
          <a:prstGeom prst="round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333F99E-3B63-846D-1283-10A4580652FC}"/>
              </a:ext>
            </a:extLst>
          </p:cNvPr>
          <p:cNvSpPr txBox="1"/>
          <p:nvPr/>
        </p:nvSpPr>
        <p:spPr>
          <a:xfrm>
            <a:off x="5969000" y="3048000"/>
            <a:ext cx="1524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 b="1">
                <a:solidFill>
                  <a:srgbClr val="171B21"/>
                </a:solidFill>
                <a:latin typeface="Aptos" panose="020B0004020202020204" pitchFamily="34" charset="0"/>
              </a:rPr>
              <a:t>Servidor - PHP + PDO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B822B7F-02A6-D743-CC3B-6C0EC2E193F1}"/>
              </a:ext>
            </a:extLst>
          </p:cNvPr>
          <p:cNvSpPr txBox="1"/>
          <p:nvPr/>
        </p:nvSpPr>
        <p:spPr>
          <a:xfrm>
            <a:off x="8509000" y="3022600"/>
            <a:ext cx="5715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2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79B62D8B-4473-30E3-ED07-C04931E7E01F}"/>
              </a:ext>
            </a:extLst>
          </p:cNvPr>
          <p:cNvSpPr/>
          <p:nvPr/>
        </p:nvSpPr>
        <p:spPr>
          <a:xfrm>
            <a:off x="9271000" y="2794000"/>
            <a:ext cx="1905000" cy="1079500"/>
          </a:xfrm>
          <a:prstGeom prst="round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8E60F9B-3032-19DE-5C3B-986C64FAFDCA}"/>
              </a:ext>
            </a:extLst>
          </p:cNvPr>
          <p:cNvSpPr txBox="1"/>
          <p:nvPr/>
        </p:nvSpPr>
        <p:spPr>
          <a:xfrm>
            <a:off x="9550400" y="3048000"/>
            <a:ext cx="13970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FFFFFF"/>
                </a:solidFill>
                <a:latin typeface="Aptos" panose="020B0004020202020204" pitchFamily="34" charset="0"/>
              </a:rPr>
              <a:t>Base de dados - SQLite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358E36F0-1583-29AD-48C1-2718391FD171}"/>
              </a:ext>
            </a:extLst>
          </p:cNvPr>
          <p:cNvSpPr/>
          <p:nvPr/>
        </p:nvSpPr>
        <p:spPr>
          <a:xfrm>
            <a:off x="1206500" y="46990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A20802B-8404-3B24-16FF-62392BA48AD8}"/>
              </a:ext>
            </a:extLst>
          </p:cNvPr>
          <p:cNvSpPr txBox="1"/>
          <p:nvPr/>
        </p:nvSpPr>
        <p:spPr>
          <a:xfrm>
            <a:off x="1511300" y="4635500"/>
            <a:ext cx="965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>
                <a:solidFill>
                  <a:srgbClr val="383226"/>
                </a:solidFill>
                <a:latin typeface="Aptos" panose="020B0004020202020204" pitchFamily="34" charset="0"/>
              </a:rPr>
              <a:t>A base é criada automaticamente na primeira execução.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A95E621C-F9DA-B14D-1573-DA0C5FB9389C}"/>
              </a:ext>
            </a:extLst>
          </p:cNvPr>
          <p:cNvSpPr/>
          <p:nvPr/>
        </p:nvSpPr>
        <p:spPr>
          <a:xfrm>
            <a:off x="1206500" y="53594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14FC5E6-8583-E935-4457-42F7A3EA869F}"/>
              </a:ext>
            </a:extLst>
          </p:cNvPr>
          <p:cNvSpPr txBox="1"/>
          <p:nvPr/>
        </p:nvSpPr>
        <p:spPr>
          <a:xfrm>
            <a:off x="1511300" y="5295900"/>
            <a:ext cx="965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>
                <a:solidFill>
                  <a:srgbClr val="383226"/>
                </a:solidFill>
                <a:latin typeface="Aptos" panose="020B0004020202020204" pitchFamily="34" charset="0"/>
              </a:rPr>
              <a:t>Os dados ficam disponíveis para a aplicação através da API PHP.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721AFC0F-B54D-B59F-3778-0AA58D8C0ED3}"/>
              </a:ext>
            </a:extLst>
          </p:cNvPr>
          <p:cNvSpPr/>
          <p:nvPr/>
        </p:nvSpPr>
        <p:spPr>
          <a:xfrm>
            <a:off x="1206500" y="60198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FA570D7-06C2-2FEC-623D-2AD8BAE99AA1}"/>
              </a:ext>
            </a:extLst>
          </p:cNvPr>
          <p:cNvSpPr txBox="1"/>
          <p:nvPr/>
        </p:nvSpPr>
        <p:spPr>
          <a:xfrm>
            <a:off x="1511300" y="5956300"/>
            <a:ext cx="965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>
                <a:solidFill>
                  <a:srgbClr val="383226"/>
                </a:solidFill>
                <a:latin typeface="Aptos" panose="020B0004020202020204" pitchFamily="34" charset="0"/>
              </a:rPr>
              <a:t>O SQLite é gratuito, leve e adequado para o protótipo da PAP.</a:t>
            </a:r>
          </a:p>
        </p:txBody>
      </p:sp>
    </p:spTree>
    <p:extLst>
      <p:ext uri="{BB962C8B-B14F-4D97-AF65-F5344CB8AC3E}">
        <p14:creationId xmlns:p14="http://schemas.microsoft.com/office/powerpoint/2010/main" val="2734875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8B03FFBB-059F-1792-25F1-B27DC6935E3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F0E4DA8-0F4B-33EB-6269-92718BFCC1D7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7E1580F-51AA-D023-57F0-3EAE8902C041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FUNCIONALIDADE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0A57D1D-110B-027D-DAA9-45762A0E5968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Sistema de navegação GPS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27E3CEA-B256-F10B-AB04-4DC6DB38BD74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06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7CFBDD6-64E6-D03F-ED99-C8B598C76C04}"/>
              </a:ext>
            </a:extLst>
          </p:cNvPr>
          <p:cNvSpPr/>
          <p:nvPr/>
        </p:nvSpPr>
        <p:spPr>
          <a:xfrm>
            <a:off x="825500" y="1587500"/>
            <a:ext cx="4191000" cy="4000500"/>
          </a:xfrm>
          <a:prstGeom prst="roundRect">
            <a:avLst/>
          </a:prstGeom>
          <a:solidFill>
            <a:srgbClr val="F8F1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C72FBD0-491F-FC2D-750E-5B60E7B0AF30}"/>
              </a:ext>
            </a:extLst>
          </p:cNvPr>
          <p:cNvSpPr txBox="1"/>
          <p:nvPr/>
        </p:nvSpPr>
        <p:spPr>
          <a:xfrm>
            <a:off x="1206500" y="2032000"/>
            <a:ext cx="3429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 b="1">
                <a:solidFill>
                  <a:srgbClr val="171B21"/>
                </a:solidFill>
                <a:latin typeface="Aptos" panose="020B0004020202020204" pitchFamily="34" charset="0"/>
              </a:rPr>
              <a:t>Rota para o beneficiário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8CB2DC7-7FA4-C30B-3477-7311ECA8D47F}"/>
              </a:ext>
            </a:extLst>
          </p:cNvPr>
          <p:cNvSpPr txBox="1"/>
          <p:nvPr/>
        </p:nvSpPr>
        <p:spPr>
          <a:xfrm>
            <a:off x="1333500" y="28575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4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D4A6885C-E2A7-10D1-CE9F-A7E98685D4A8}"/>
              </a:ext>
            </a:extLst>
          </p:cNvPr>
          <p:cNvSpPr/>
          <p:nvPr/>
        </p:nvSpPr>
        <p:spPr>
          <a:xfrm>
            <a:off x="1333500" y="2857500"/>
            <a:ext cx="508000" cy="5080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265ABD1-48A5-0DAD-6CA6-DE51D8644E70}"/>
              </a:ext>
            </a:extLst>
          </p:cNvPr>
          <p:cNvSpPr txBox="1"/>
          <p:nvPr/>
        </p:nvSpPr>
        <p:spPr>
          <a:xfrm>
            <a:off x="2095500" y="2921000"/>
            <a:ext cx="2413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600">
                <a:solidFill>
                  <a:srgbClr val="383226"/>
                </a:solidFill>
                <a:latin typeface="Aptos" panose="020B0004020202020204" pitchFamily="34" charset="0"/>
              </a:rPr>
              <a:t>O médico seleciona o beneficiário.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BAC92DC-6241-8B2C-2A55-84B41C592650}"/>
              </a:ext>
            </a:extLst>
          </p:cNvPr>
          <p:cNvSpPr/>
          <p:nvPr/>
        </p:nvSpPr>
        <p:spPr>
          <a:xfrm>
            <a:off x="1333500" y="3746500"/>
            <a:ext cx="508000" cy="508000"/>
          </a:xfrm>
          <a:prstGeom prst="round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4448956-A3EA-5482-EB50-5B479A20B859}"/>
              </a:ext>
            </a:extLst>
          </p:cNvPr>
          <p:cNvSpPr txBox="1"/>
          <p:nvPr/>
        </p:nvSpPr>
        <p:spPr>
          <a:xfrm>
            <a:off x="1485900" y="38227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 b="1">
                <a:solidFill>
                  <a:srgbClr val="171B21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07D85E0-26FA-6686-AF14-D1C3870156BF}"/>
              </a:ext>
            </a:extLst>
          </p:cNvPr>
          <p:cNvSpPr txBox="1"/>
          <p:nvPr/>
        </p:nvSpPr>
        <p:spPr>
          <a:xfrm>
            <a:off x="2095500" y="3810000"/>
            <a:ext cx="2413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600">
                <a:solidFill>
                  <a:srgbClr val="383226"/>
                </a:solidFill>
                <a:latin typeface="Aptos" panose="020B0004020202020204" pitchFamily="34" charset="0"/>
              </a:rPr>
              <a:t>A aplicação pede a localização atual.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AF8E66AF-8FD2-6E07-2A6E-7FA148C70E3C}"/>
              </a:ext>
            </a:extLst>
          </p:cNvPr>
          <p:cNvSpPr/>
          <p:nvPr/>
        </p:nvSpPr>
        <p:spPr>
          <a:xfrm>
            <a:off x="1333500" y="4635500"/>
            <a:ext cx="508000" cy="508000"/>
          </a:xfrm>
          <a:prstGeom prst="round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2913ED6-8F89-BF1B-4324-839740630ADE}"/>
              </a:ext>
            </a:extLst>
          </p:cNvPr>
          <p:cNvSpPr txBox="1"/>
          <p:nvPr/>
        </p:nvSpPr>
        <p:spPr>
          <a:xfrm>
            <a:off x="1485900" y="4711700"/>
            <a:ext cx="25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87FF2BA-5AE2-8577-5AC1-8CFBBBA5270E}"/>
              </a:ext>
            </a:extLst>
          </p:cNvPr>
          <p:cNvSpPr txBox="1"/>
          <p:nvPr/>
        </p:nvSpPr>
        <p:spPr>
          <a:xfrm>
            <a:off x="2095500" y="4699000"/>
            <a:ext cx="2413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600">
                <a:solidFill>
                  <a:srgbClr val="383226"/>
                </a:solidFill>
                <a:latin typeface="Aptos" panose="020B0004020202020204" pitchFamily="34" charset="0"/>
              </a:rPr>
              <a:t>A rota abre no Google Maps.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A3F792C-DB67-32A6-0415-E90FCCB636E9}"/>
              </a:ext>
            </a:extLst>
          </p:cNvPr>
          <p:cNvSpPr txBox="1"/>
          <p:nvPr/>
        </p:nvSpPr>
        <p:spPr>
          <a:xfrm>
            <a:off x="6604000" y="2349500"/>
            <a:ext cx="2413000" cy="95410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6200" b="1">
                <a:solidFill>
                  <a:srgbClr val="0D6EE8"/>
                </a:solidFill>
                <a:latin typeface="Aptos Display" panose="020B0004020202020204" pitchFamily="34" charset="0"/>
              </a:rPr>
              <a:t>GPS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217D591-F3E9-A339-E14F-1C2306F44953}"/>
              </a:ext>
            </a:extLst>
          </p:cNvPr>
          <p:cNvSpPr txBox="1"/>
          <p:nvPr/>
        </p:nvSpPr>
        <p:spPr>
          <a:xfrm>
            <a:off x="6604000" y="3810000"/>
            <a:ext cx="3810000" cy="12926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 b="1">
                <a:solidFill>
                  <a:srgbClr val="171B21"/>
                </a:solidFill>
                <a:latin typeface="Aptos" panose="020B0004020202020204" pitchFamily="34" charset="0"/>
              </a:rPr>
              <a:t>Se a localização for recusada, a rota continua a funcionar usando a morada do beneficiário.</a:t>
            </a:r>
          </a:p>
        </p:txBody>
      </p:sp>
    </p:spTree>
    <p:extLst>
      <p:ext uri="{BB962C8B-B14F-4D97-AF65-F5344CB8AC3E}">
        <p14:creationId xmlns:p14="http://schemas.microsoft.com/office/powerpoint/2010/main" val="2269651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EE23182-A016-8725-AC4B-31DDBCED7C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C1B0E11-CFF6-9E3A-1961-A68D35FEE979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09D9121-972D-7BD8-5D52-8510E4701DE2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IMPLEMENTAÇÃO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67B262E-090B-F9E6-EC71-7C54462CED2E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Tecnologias utilizadas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84DE028-9CBD-8083-C45D-A62DE7321550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07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73B78A1-8B66-AD2D-AFE4-2CC0F3CEE729}"/>
              </a:ext>
            </a:extLst>
          </p:cNvPr>
          <p:cNvSpPr/>
          <p:nvPr/>
        </p:nvSpPr>
        <p:spPr>
          <a:xfrm>
            <a:off x="889000" y="17780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6C70F33-3CBB-0C88-B4C7-ABC963D05E1D}"/>
              </a:ext>
            </a:extLst>
          </p:cNvPr>
          <p:cNvSpPr/>
          <p:nvPr/>
        </p:nvSpPr>
        <p:spPr>
          <a:xfrm>
            <a:off x="889000" y="1778000"/>
            <a:ext cx="88900" cy="1905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137D496-E0F0-59A5-1340-AD8A7A75EBFD}"/>
              </a:ext>
            </a:extLst>
          </p:cNvPr>
          <p:cNvSpPr txBox="1"/>
          <p:nvPr/>
        </p:nvSpPr>
        <p:spPr>
          <a:xfrm>
            <a:off x="1168400" y="20066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HTML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7E03144-A758-9233-7427-09A6E82725ED}"/>
              </a:ext>
            </a:extLst>
          </p:cNvPr>
          <p:cNvSpPr txBox="1"/>
          <p:nvPr/>
        </p:nvSpPr>
        <p:spPr>
          <a:xfrm>
            <a:off x="1168400" y="2476500"/>
            <a:ext cx="260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Estrutura das páginas e formulários da aplicação.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72FA8927-345C-4392-1C9B-59032FDAA373}"/>
              </a:ext>
            </a:extLst>
          </p:cNvPr>
          <p:cNvSpPr/>
          <p:nvPr/>
        </p:nvSpPr>
        <p:spPr>
          <a:xfrm>
            <a:off x="4508500" y="17780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CF06ABC-44B7-9AA9-1317-33732B2CD45C}"/>
              </a:ext>
            </a:extLst>
          </p:cNvPr>
          <p:cNvSpPr/>
          <p:nvPr/>
        </p:nvSpPr>
        <p:spPr>
          <a:xfrm>
            <a:off x="4508500" y="1778000"/>
            <a:ext cx="88900" cy="19050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EB36655-0F5C-9B74-67BC-0E310CD8FB24}"/>
              </a:ext>
            </a:extLst>
          </p:cNvPr>
          <p:cNvSpPr txBox="1"/>
          <p:nvPr/>
        </p:nvSpPr>
        <p:spPr>
          <a:xfrm>
            <a:off x="4787900" y="20066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CSS + Bootstrap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E9C6849-1674-F9A4-4CD4-33F5D4C323FC}"/>
              </a:ext>
            </a:extLst>
          </p:cNvPr>
          <p:cNvSpPr txBox="1"/>
          <p:nvPr/>
        </p:nvSpPr>
        <p:spPr>
          <a:xfrm>
            <a:off x="4787900" y="2476500"/>
            <a:ext cx="2603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Layout responsivo, cartões, tabelas, modais e componentes visuais.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A33B356-83A4-F857-5630-D1569F96DEEC}"/>
              </a:ext>
            </a:extLst>
          </p:cNvPr>
          <p:cNvSpPr/>
          <p:nvPr/>
        </p:nvSpPr>
        <p:spPr>
          <a:xfrm>
            <a:off x="8128000" y="17780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5308959-7736-7B62-9767-5210143CD759}"/>
              </a:ext>
            </a:extLst>
          </p:cNvPr>
          <p:cNvSpPr/>
          <p:nvPr/>
        </p:nvSpPr>
        <p:spPr>
          <a:xfrm>
            <a:off x="8128000" y="1778000"/>
            <a:ext cx="88900" cy="19050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D8AECB09-79D9-FDCB-7C01-F52DC13A20A5}"/>
              </a:ext>
            </a:extLst>
          </p:cNvPr>
          <p:cNvSpPr txBox="1"/>
          <p:nvPr/>
        </p:nvSpPr>
        <p:spPr>
          <a:xfrm>
            <a:off x="8407400" y="20066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JavaScript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7CBA284-CA8F-09A1-D10C-912C150E0657}"/>
              </a:ext>
            </a:extLst>
          </p:cNvPr>
          <p:cNvSpPr txBox="1"/>
          <p:nvPr/>
        </p:nvSpPr>
        <p:spPr>
          <a:xfrm>
            <a:off x="8407400" y="2476500"/>
            <a:ext cx="260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Navegação, validação, filtros, renderização e integração GPS.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E8ED90AF-87E9-F55E-3865-6EBA65FAD85F}"/>
              </a:ext>
            </a:extLst>
          </p:cNvPr>
          <p:cNvSpPr/>
          <p:nvPr/>
        </p:nvSpPr>
        <p:spPr>
          <a:xfrm>
            <a:off x="2730500" y="42545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C3ED3492-C620-8730-F37C-6FC14CEA3A4F}"/>
              </a:ext>
            </a:extLst>
          </p:cNvPr>
          <p:cNvSpPr/>
          <p:nvPr/>
        </p:nvSpPr>
        <p:spPr>
          <a:xfrm>
            <a:off x="2730500" y="4254500"/>
            <a:ext cx="88900" cy="19050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AC47264-6A02-FD32-33B5-345E86D48C6D}"/>
              </a:ext>
            </a:extLst>
          </p:cNvPr>
          <p:cNvSpPr txBox="1"/>
          <p:nvPr/>
        </p:nvSpPr>
        <p:spPr>
          <a:xfrm>
            <a:off x="3009900" y="44831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PHP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5D88C05-017A-03AE-C55F-5738FF45C87A}"/>
              </a:ext>
            </a:extLst>
          </p:cNvPr>
          <p:cNvSpPr txBox="1"/>
          <p:nvPr/>
        </p:nvSpPr>
        <p:spPr>
          <a:xfrm>
            <a:off x="3009900" y="4953000"/>
            <a:ext cx="260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API no servidor para receber, validar e guardar os dados.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B41BB19B-C017-6015-EBD2-76C39C607ED1}"/>
              </a:ext>
            </a:extLst>
          </p:cNvPr>
          <p:cNvSpPr/>
          <p:nvPr/>
        </p:nvSpPr>
        <p:spPr>
          <a:xfrm>
            <a:off x="6350000" y="4254500"/>
            <a:ext cx="3111500" cy="1905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5E5E8E6A-0C32-852E-1FF4-0354CD27EFC8}"/>
              </a:ext>
            </a:extLst>
          </p:cNvPr>
          <p:cNvSpPr/>
          <p:nvPr/>
        </p:nvSpPr>
        <p:spPr>
          <a:xfrm>
            <a:off x="6350000" y="4254500"/>
            <a:ext cx="88900" cy="1905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6248267-7DCA-70A7-AF72-3728F7D60466}"/>
              </a:ext>
            </a:extLst>
          </p:cNvPr>
          <p:cNvSpPr txBox="1"/>
          <p:nvPr/>
        </p:nvSpPr>
        <p:spPr>
          <a:xfrm>
            <a:off x="6629400" y="4483100"/>
            <a:ext cx="26035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SQLite + PDO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48A84F5A-AF80-9CA3-8A64-AB71744B92E3}"/>
              </a:ext>
            </a:extLst>
          </p:cNvPr>
          <p:cNvSpPr txBox="1"/>
          <p:nvPr/>
        </p:nvSpPr>
        <p:spPr>
          <a:xfrm>
            <a:off x="6629400" y="4953000"/>
            <a:ext cx="2603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Base de dados relacional local, sem custos de instalação de servidor de base de dados.</a:t>
            </a:r>
          </a:p>
        </p:txBody>
      </p:sp>
    </p:spTree>
    <p:extLst>
      <p:ext uri="{BB962C8B-B14F-4D97-AF65-F5344CB8AC3E}">
        <p14:creationId xmlns:p14="http://schemas.microsoft.com/office/powerpoint/2010/main" val="2715817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615DBB8E-2467-3F04-B678-E7F085DE668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65C0659-693B-139D-51E0-E51923DFDE0E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49CB90C-D71A-8827-17D7-A72AB2DF8E55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ARQUITETURA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215503D-01E8-BAA2-7601-3FADF72A5649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Como funciona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4087E6-E473-4C1A-D296-FE2167E532EE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08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4FD83A3-B90A-DAE9-2BCB-29D6141DF4AA}"/>
              </a:ext>
            </a:extLst>
          </p:cNvPr>
          <p:cNvSpPr txBox="1"/>
          <p:nvPr/>
        </p:nvSpPr>
        <p:spPr>
          <a:xfrm>
            <a:off x="698500" y="1587500"/>
            <a:ext cx="762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 b="1">
                <a:solidFill>
                  <a:srgbClr val="171B21"/>
                </a:solidFill>
                <a:latin typeface="Aptos" panose="020B0004020202020204" pitchFamily="34" charset="0"/>
              </a:rPr>
              <a:t>Fluxo de uma operação na aplicação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D33D314D-5C37-A176-585C-910363BA6624}"/>
              </a:ext>
            </a:extLst>
          </p:cNvPr>
          <p:cNvSpPr/>
          <p:nvPr/>
        </p:nvSpPr>
        <p:spPr>
          <a:xfrm>
            <a:off x="889000" y="2667000"/>
            <a:ext cx="2159000" cy="11430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812BE1E-AF39-8B50-55FB-C5B8E8EE38BF}"/>
              </a:ext>
            </a:extLst>
          </p:cNvPr>
          <p:cNvSpPr txBox="1"/>
          <p:nvPr/>
        </p:nvSpPr>
        <p:spPr>
          <a:xfrm>
            <a:off x="1168400" y="2997200"/>
            <a:ext cx="15875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FFFFFF"/>
                </a:solidFill>
                <a:latin typeface="Aptos" panose="020B0004020202020204" pitchFamily="34" charset="0"/>
              </a:rPr>
              <a:t>Utilizador - Médico / coordenação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F46E2CC-F3C4-1451-89BD-B102F70CB268}"/>
              </a:ext>
            </a:extLst>
          </p:cNvPr>
          <p:cNvSpPr txBox="1"/>
          <p:nvPr/>
        </p:nvSpPr>
        <p:spPr>
          <a:xfrm>
            <a:off x="3429000" y="2921000"/>
            <a:ext cx="5715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4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C915AD7-4A4A-6ED6-0161-B1487187C000}"/>
              </a:ext>
            </a:extLst>
          </p:cNvPr>
          <p:cNvSpPr/>
          <p:nvPr/>
        </p:nvSpPr>
        <p:spPr>
          <a:xfrm>
            <a:off x="4318000" y="2667000"/>
            <a:ext cx="2159000" cy="1143000"/>
          </a:xfrm>
          <a:prstGeom prst="round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F053DE5-545A-EDD4-2EE3-6D328DDB94AC}"/>
              </a:ext>
            </a:extLst>
          </p:cNvPr>
          <p:cNvSpPr txBox="1"/>
          <p:nvPr/>
        </p:nvSpPr>
        <p:spPr>
          <a:xfrm>
            <a:off x="4889500" y="2997200"/>
            <a:ext cx="114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Interface - Cuida+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7DE3524-D6CE-E4DB-DA24-24972AD39D19}"/>
              </a:ext>
            </a:extLst>
          </p:cNvPr>
          <p:cNvSpPr txBox="1"/>
          <p:nvPr/>
        </p:nvSpPr>
        <p:spPr>
          <a:xfrm>
            <a:off x="6858000" y="2921000"/>
            <a:ext cx="5715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4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0EC1ECB-5362-85A2-3EDB-C50E12E35D01}"/>
              </a:ext>
            </a:extLst>
          </p:cNvPr>
          <p:cNvSpPr/>
          <p:nvPr/>
        </p:nvSpPr>
        <p:spPr>
          <a:xfrm>
            <a:off x="7747000" y="2667000"/>
            <a:ext cx="2159000" cy="1143000"/>
          </a:xfrm>
          <a:prstGeom prst="round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7E6A2B5-93BB-BE38-1D6C-F0455574CAA2}"/>
              </a:ext>
            </a:extLst>
          </p:cNvPr>
          <p:cNvSpPr txBox="1"/>
          <p:nvPr/>
        </p:nvSpPr>
        <p:spPr>
          <a:xfrm>
            <a:off x="8318500" y="2997200"/>
            <a:ext cx="1143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FFFFFF"/>
                </a:solidFill>
                <a:latin typeface="Aptos" panose="020B0004020202020204" pitchFamily="34" charset="0"/>
              </a:rPr>
              <a:t>API PHP - api.php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5A0F95F-E7D8-52A8-DE12-F8779F47B351}"/>
              </a:ext>
            </a:extLst>
          </p:cNvPr>
          <p:cNvSpPr txBox="1"/>
          <p:nvPr/>
        </p:nvSpPr>
        <p:spPr>
          <a:xfrm>
            <a:off x="10287000" y="2921000"/>
            <a:ext cx="5715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3400" b="1">
                <a:solidFill>
                  <a:srgbClr val="0D6EE8"/>
                </a:solidFill>
                <a:latin typeface="Aptos" panose="020B0004020202020204" pitchFamily="34" charset="0"/>
              </a:rPr>
              <a:t>-&gt;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CB78FE2D-6578-FE16-5362-C416BD983942}"/>
              </a:ext>
            </a:extLst>
          </p:cNvPr>
          <p:cNvSpPr/>
          <p:nvPr/>
        </p:nvSpPr>
        <p:spPr>
          <a:xfrm>
            <a:off x="10795000" y="2667000"/>
            <a:ext cx="952500" cy="1143000"/>
          </a:xfrm>
          <a:prstGeom prst="roundRect">
            <a:avLst/>
          </a:prstGeom>
          <a:solidFill>
            <a:srgbClr val="171B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E1BB4E3-0949-1586-5DBA-6668D2572ABB}"/>
              </a:ext>
            </a:extLst>
          </p:cNvPr>
          <p:cNvSpPr txBox="1"/>
          <p:nvPr/>
        </p:nvSpPr>
        <p:spPr>
          <a:xfrm>
            <a:off x="10934700" y="3111500"/>
            <a:ext cx="685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300" b="1">
                <a:solidFill>
                  <a:srgbClr val="FFFFFF"/>
                </a:solidFill>
                <a:latin typeface="Aptos" panose="020B0004020202020204" pitchFamily="34" charset="0"/>
              </a:rPr>
              <a:t>SQLite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DEE3876-290C-E4C5-4761-F7436A2D2425}"/>
              </a:ext>
            </a:extLst>
          </p:cNvPr>
          <p:cNvSpPr txBox="1"/>
          <p:nvPr/>
        </p:nvSpPr>
        <p:spPr>
          <a:xfrm>
            <a:off x="1143000" y="4762500"/>
            <a:ext cx="965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>
                <a:solidFill>
                  <a:srgbClr val="847668"/>
                </a:solidFill>
                <a:latin typeface="Aptos" panose="020B0004020202020204" pitchFamily="34" charset="0"/>
              </a:rPr>
              <a:t>A interface mantém uma cópia local de segurança, enquanto o servidor centraliza os dados quando o PHP está disponível.</a:t>
            </a:r>
          </a:p>
        </p:txBody>
      </p:sp>
    </p:spTree>
    <p:extLst>
      <p:ext uri="{BB962C8B-B14F-4D97-AF65-F5344CB8AC3E}">
        <p14:creationId xmlns:p14="http://schemas.microsoft.com/office/powerpoint/2010/main" val="2407540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4D0C5024-E598-F4FF-3402-FF0FA8F1CD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EBDE10F-3555-7543-9697-20D8AB8294F6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E5BA6E5-E53B-330B-99AF-8FDA2D464517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APRESENTAÇÃO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CD8DE3E-AB6D-0A58-8ED6-9AC4FECB7341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Demonstração da aplicação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FA2A9-C429-37A3-3D10-EAB2D88002F8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09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E84BE3F-64D8-305D-4B6C-496E33A1670A}"/>
              </a:ext>
            </a:extLst>
          </p:cNvPr>
          <p:cNvSpPr/>
          <p:nvPr/>
        </p:nvSpPr>
        <p:spPr>
          <a:xfrm>
            <a:off x="698500" y="1498600"/>
            <a:ext cx="6350000" cy="3810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26E42EC-717C-0BD2-5F09-0711F845F33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0" y="1625600"/>
            <a:ext cx="6096000" cy="3429000"/>
          </a:xfrm>
          <a:prstGeom prst="rect">
            <a:avLst/>
          </a:prstGeom>
          <a:ln w="25400">
            <a:solidFill>
              <a:srgbClr val="4BB0D7"/>
            </a:solidFill>
          </a:ln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E6119BA5-FECC-A56E-1973-B8B510EE99D1}"/>
              </a:ext>
            </a:extLst>
          </p:cNvPr>
          <p:cNvSpPr txBox="1"/>
          <p:nvPr/>
        </p:nvSpPr>
        <p:spPr>
          <a:xfrm>
            <a:off x="825500" y="5168900"/>
            <a:ext cx="6096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300">
                <a:solidFill>
                  <a:srgbClr val="847668"/>
                </a:solidFill>
                <a:latin typeface="Aptos" panose="020B0004020202020204" pitchFamily="34" charset="0"/>
              </a:rPr>
              <a:t>Interface real da aplicação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515D53E-63AC-7497-6029-7DB4E1801AC8}"/>
              </a:ext>
            </a:extLst>
          </p:cNvPr>
          <p:cNvSpPr txBox="1"/>
          <p:nvPr/>
        </p:nvSpPr>
        <p:spPr>
          <a:xfrm>
            <a:off x="7747000" y="1625600"/>
            <a:ext cx="3556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100" b="1">
                <a:solidFill>
                  <a:srgbClr val="171B21"/>
                </a:solidFill>
                <a:latin typeface="Aptos" panose="020B0004020202020204" pitchFamily="34" charset="0"/>
              </a:rPr>
              <a:t>Um fluxo simples para cada visita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B7E04E1-E6B4-A8B8-6036-543F7944298E}"/>
              </a:ext>
            </a:extLst>
          </p:cNvPr>
          <p:cNvSpPr/>
          <p:nvPr/>
        </p:nvSpPr>
        <p:spPr>
          <a:xfrm>
            <a:off x="7810500" y="24765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CB1D781-0693-070B-279C-F319091FDFB2}"/>
              </a:ext>
            </a:extLst>
          </p:cNvPr>
          <p:cNvSpPr txBox="1"/>
          <p:nvPr/>
        </p:nvSpPr>
        <p:spPr>
          <a:xfrm>
            <a:off x="8115300" y="2413000"/>
            <a:ext cx="34925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Consultar o dashboard e os indicadores.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1CC64F9B-30B1-1A00-8839-E1D6DAB8665B}"/>
              </a:ext>
            </a:extLst>
          </p:cNvPr>
          <p:cNvSpPr/>
          <p:nvPr/>
        </p:nvSpPr>
        <p:spPr>
          <a:xfrm>
            <a:off x="7810500" y="31369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C4EC475-D610-1F4C-F66C-E23869C9CAEF}"/>
              </a:ext>
            </a:extLst>
          </p:cNvPr>
          <p:cNvSpPr txBox="1"/>
          <p:nvPr/>
        </p:nvSpPr>
        <p:spPr>
          <a:xfrm>
            <a:off x="8115300" y="3073400"/>
            <a:ext cx="34925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Pesquisar beneficiários e necessidades.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A2837F07-11F6-F34B-E999-9145D7386103}"/>
              </a:ext>
            </a:extLst>
          </p:cNvPr>
          <p:cNvSpPr/>
          <p:nvPr/>
        </p:nvSpPr>
        <p:spPr>
          <a:xfrm>
            <a:off x="7810500" y="37973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5F9CD33-CFF7-4607-FBA4-461E1BADDF19}"/>
              </a:ext>
            </a:extLst>
          </p:cNvPr>
          <p:cNvSpPr txBox="1"/>
          <p:nvPr/>
        </p:nvSpPr>
        <p:spPr>
          <a:xfrm>
            <a:off x="8115300" y="3733800"/>
            <a:ext cx="34925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Agendar apoios e atualizar estados.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AFD0D2F-8711-8BAF-8796-44C60F53D2D7}"/>
              </a:ext>
            </a:extLst>
          </p:cNvPr>
          <p:cNvSpPr/>
          <p:nvPr/>
        </p:nvSpPr>
        <p:spPr>
          <a:xfrm>
            <a:off x="7810500" y="44577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2CC24F2-AFDA-D059-20C9-CAA37396880F}"/>
              </a:ext>
            </a:extLst>
          </p:cNvPr>
          <p:cNvSpPr txBox="1"/>
          <p:nvPr/>
        </p:nvSpPr>
        <p:spPr>
          <a:xfrm>
            <a:off x="8115300" y="4394200"/>
            <a:ext cx="3492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000">
                <a:solidFill>
                  <a:srgbClr val="383226"/>
                </a:solidFill>
                <a:latin typeface="Aptos" panose="020B0004020202020204" pitchFamily="34" charset="0"/>
              </a:rPr>
              <a:t>Abrir a rota GPS para a visita.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5AE75C8D-7090-AEA2-9A36-117F43EE30BE}"/>
              </a:ext>
            </a:extLst>
          </p:cNvPr>
          <p:cNvSpPr/>
          <p:nvPr/>
        </p:nvSpPr>
        <p:spPr>
          <a:xfrm>
            <a:off x="7810500" y="5143500"/>
            <a:ext cx="3048000" cy="5334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2D7F1A9-54E0-DD1E-98E0-A1045E2FE47F}"/>
              </a:ext>
            </a:extLst>
          </p:cNvPr>
          <p:cNvSpPr txBox="1"/>
          <p:nvPr/>
        </p:nvSpPr>
        <p:spPr>
          <a:xfrm>
            <a:off x="8089900" y="52959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300" b="1">
                <a:solidFill>
                  <a:srgbClr val="FFFFFF"/>
                </a:solidFill>
                <a:latin typeface="Aptos" panose="020B0004020202020204" pitchFamily="34" charset="0"/>
              </a:rPr>
              <a:t>Do pedido ao acompanhamento</a:t>
            </a:r>
          </a:p>
        </p:txBody>
      </p:sp>
    </p:spTree>
    <p:extLst>
      <p:ext uri="{BB962C8B-B14F-4D97-AF65-F5344CB8AC3E}">
        <p14:creationId xmlns:p14="http://schemas.microsoft.com/office/powerpoint/2010/main" val="907934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25AB3C5-CEF9-9AC3-ED06-09B2C7884AD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B6F31AED-077C-6AB4-7F05-5DC7C99C685F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BAE630D-87FA-851C-BDF6-B3181797FC7D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COMO UTILIZAR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60D0AC8-6D7F-A58D-6236-E32BB3CB75B1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Para que serve o +Apoio?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E5B5C8D-1928-5F74-C07E-33AA47F609AA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10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FA063584-5BDB-101D-4CCD-C31289A0629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1524000"/>
            <a:ext cx="3429000" cy="1930400"/>
          </a:xfrm>
          <a:prstGeom prst="rect">
            <a:avLst/>
          </a:prstGeom>
          <a:ln w="25400">
            <a:solidFill>
              <a:srgbClr val="4BB0D7"/>
            </a:solidFill>
          </a:ln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336E07F-20CC-9644-8BA4-83E31BE16E6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0" y="1524000"/>
            <a:ext cx="3429000" cy="1930400"/>
          </a:xfrm>
          <a:prstGeom prst="rect">
            <a:avLst/>
          </a:prstGeom>
          <a:ln w="25400">
            <a:solidFill>
              <a:srgbClr val="4BB0D7"/>
            </a:solidFill>
          </a:ln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FA1ED9D0-AA99-C0E8-1A5F-1EA4FA33EC6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500" y="1524000"/>
            <a:ext cx="3429000" cy="1930400"/>
          </a:xfrm>
          <a:prstGeom prst="rect">
            <a:avLst/>
          </a:prstGeom>
          <a:ln w="25400">
            <a:solidFill>
              <a:srgbClr val="4BB0D7"/>
            </a:solidFill>
          </a:ln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8EC80D41-A66C-2F39-8C14-DC5E58FBCA9C}"/>
              </a:ext>
            </a:extLst>
          </p:cNvPr>
          <p:cNvSpPr txBox="1"/>
          <p:nvPr/>
        </p:nvSpPr>
        <p:spPr>
          <a:xfrm>
            <a:off x="698500" y="3556000"/>
            <a:ext cx="342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 b="1">
                <a:solidFill>
                  <a:srgbClr val="0D6EE8"/>
                </a:solidFill>
                <a:latin typeface="Aptos" panose="020B0004020202020204" pitchFamily="34" charset="0"/>
              </a:rPr>
              <a:t>1. Entrar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32CAFDC-404C-6645-A92C-AA6111BD75F2}"/>
              </a:ext>
            </a:extLst>
          </p:cNvPr>
          <p:cNvSpPr txBox="1"/>
          <p:nvPr/>
        </p:nvSpPr>
        <p:spPr>
          <a:xfrm>
            <a:off x="4381500" y="3556000"/>
            <a:ext cx="342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 b="1">
                <a:solidFill>
                  <a:srgbClr val="0D6EE8"/>
                </a:solidFill>
                <a:latin typeface="Aptos" panose="020B0004020202020204" pitchFamily="34" charset="0"/>
              </a:rPr>
              <a:t>2. Autenticar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BC8C72B-B782-A7DA-0041-909E88914891}"/>
              </a:ext>
            </a:extLst>
          </p:cNvPr>
          <p:cNvSpPr txBox="1"/>
          <p:nvPr/>
        </p:nvSpPr>
        <p:spPr>
          <a:xfrm>
            <a:off x="8064500" y="3556000"/>
            <a:ext cx="3429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 b="1">
                <a:solidFill>
                  <a:srgbClr val="0D6EE8"/>
                </a:solidFill>
                <a:latin typeface="Aptos" panose="020B0004020202020204" pitchFamily="34" charset="0"/>
              </a:rPr>
              <a:t>3. Criar conta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59D10A8-56B4-1B40-3771-585877E19548}"/>
              </a:ext>
            </a:extLst>
          </p:cNvPr>
          <p:cNvSpPr/>
          <p:nvPr/>
        </p:nvSpPr>
        <p:spPr>
          <a:xfrm>
            <a:off x="698500" y="4191000"/>
            <a:ext cx="3302000" cy="158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DF14A98F-88E3-A902-4C66-BA6AC0ED99D6}"/>
              </a:ext>
            </a:extLst>
          </p:cNvPr>
          <p:cNvSpPr/>
          <p:nvPr/>
        </p:nvSpPr>
        <p:spPr>
          <a:xfrm>
            <a:off x="698500" y="4191000"/>
            <a:ext cx="88900" cy="15875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69CEB7C-6C5E-B8EC-FE06-B1DE84F723B1}"/>
              </a:ext>
            </a:extLst>
          </p:cNvPr>
          <p:cNvSpPr txBox="1"/>
          <p:nvPr/>
        </p:nvSpPr>
        <p:spPr>
          <a:xfrm>
            <a:off x="977900" y="4419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Para que serve?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59417932-842E-4ED8-0F61-43D7BF4C630A}"/>
              </a:ext>
            </a:extLst>
          </p:cNvPr>
          <p:cNvSpPr txBox="1"/>
          <p:nvPr/>
        </p:nvSpPr>
        <p:spPr>
          <a:xfrm>
            <a:off x="977900" y="4889500"/>
            <a:ext cx="2794000" cy="86177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Centraliza pedidos, beneficiários, médicos voluntários e acompanhamento das visitas num só espaço.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DD1698D-8F5C-272D-2FB0-A242F4055506}"/>
              </a:ext>
            </a:extLst>
          </p:cNvPr>
          <p:cNvSpPr/>
          <p:nvPr/>
        </p:nvSpPr>
        <p:spPr>
          <a:xfrm>
            <a:off x="4445000" y="4191000"/>
            <a:ext cx="3302000" cy="158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D25D7047-083E-4FCC-A524-13416ED5E0F9}"/>
              </a:ext>
            </a:extLst>
          </p:cNvPr>
          <p:cNvSpPr/>
          <p:nvPr/>
        </p:nvSpPr>
        <p:spPr>
          <a:xfrm>
            <a:off x="4445000" y="4191000"/>
            <a:ext cx="88900" cy="1587500"/>
          </a:xfrm>
          <a:prstGeom prst="rect">
            <a:avLst/>
          </a:prstGeom>
          <a:solidFill>
            <a:srgbClr val="4BB0D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97EF796-27C3-AC5B-C790-64F84708195C}"/>
              </a:ext>
            </a:extLst>
          </p:cNvPr>
          <p:cNvSpPr txBox="1"/>
          <p:nvPr/>
        </p:nvSpPr>
        <p:spPr>
          <a:xfrm>
            <a:off x="4724400" y="4419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Como utilizar?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87F1F5C0-0697-A225-AA2F-74E0F3F3782D}"/>
              </a:ext>
            </a:extLst>
          </p:cNvPr>
          <p:cNvSpPr txBox="1"/>
          <p:nvPr/>
        </p:nvSpPr>
        <p:spPr>
          <a:xfrm>
            <a:off x="4724400" y="48895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Entrar, escolher o perfil, consultar a informação necessária e registar cada apoio realizado.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B0F4ECF5-25C7-35B0-CDD2-5D72D328D420}"/>
              </a:ext>
            </a:extLst>
          </p:cNvPr>
          <p:cNvSpPr/>
          <p:nvPr/>
        </p:nvSpPr>
        <p:spPr>
          <a:xfrm>
            <a:off x="8191500" y="4191000"/>
            <a:ext cx="3302000" cy="1587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5951FF65-1E17-D556-3B1B-E8EBA041ACEA}"/>
              </a:ext>
            </a:extLst>
          </p:cNvPr>
          <p:cNvSpPr/>
          <p:nvPr/>
        </p:nvSpPr>
        <p:spPr>
          <a:xfrm>
            <a:off x="8191500" y="4191000"/>
            <a:ext cx="88900" cy="1587500"/>
          </a:xfrm>
          <a:prstGeom prst="rect">
            <a:avLst/>
          </a:prstGeom>
          <a:solidFill>
            <a:srgbClr val="AE8E6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1350ECC2-155C-56C4-35AE-5C26A67C7728}"/>
              </a:ext>
            </a:extLst>
          </p:cNvPr>
          <p:cNvSpPr txBox="1"/>
          <p:nvPr/>
        </p:nvSpPr>
        <p:spPr>
          <a:xfrm>
            <a:off x="8470900" y="4419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171B21"/>
                </a:solidFill>
                <a:latin typeface="Aptos" panose="020B0004020202020204" pitchFamily="34" charset="0"/>
              </a:rPr>
              <a:t>Quem pode usar?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7EDD0888-F0A4-9D78-F3BF-D8092AC9E23B}"/>
              </a:ext>
            </a:extLst>
          </p:cNvPr>
          <p:cNvSpPr txBox="1"/>
          <p:nvPr/>
        </p:nvSpPr>
        <p:spPr>
          <a:xfrm>
            <a:off x="8470900" y="4889500"/>
            <a:ext cx="279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400">
                <a:solidFill>
                  <a:srgbClr val="847668"/>
                </a:solidFill>
                <a:latin typeface="Aptos" panose="020B0004020202020204" pitchFamily="34" charset="0"/>
              </a:rPr>
              <a:t>Beneficiários, médicos voluntários e coordenação, cada um com as opções adequadas ao seu perfil.</a:t>
            </a:r>
          </a:p>
        </p:txBody>
      </p:sp>
    </p:spTree>
    <p:extLst>
      <p:ext uri="{BB962C8B-B14F-4D97-AF65-F5344CB8AC3E}">
        <p14:creationId xmlns:p14="http://schemas.microsoft.com/office/powerpoint/2010/main" val="2465962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98AD5B-6AB2-4772-BB10-A985001BA9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9F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7022CD1-1173-3E89-33B1-97A92B2464C1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A3E2D57-E7CF-D531-5959-6FD7C9B583E1}"/>
              </a:ext>
            </a:extLst>
          </p:cNvPr>
          <p:cNvSpPr txBox="1"/>
          <p:nvPr/>
        </p:nvSpPr>
        <p:spPr>
          <a:xfrm>
            <a:off x="698500" y="431800"/>
            <a:ext cx="3302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000" b="1">
                <a:solidFill>
                  <a:srgbClr val="0D6EE8"/>
                </a:solidFill>
                <a:latin typeface="Aptos" panose="020B0004020202020204" pitchFamily="34" charset="0"/>
              </a:rPr>
              <a:t>ENCERRAMENTO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A6A8EBC-B8DE-2497-1EE6-54B9BE67B127}"/>
              </a:ext>
            </a:extLst>
          </p:cNvPr>
          <p:cNvSpPr txBox="1"/>
          <p:nvPr/>
        </p:nvSpPr>
        <p:spPr>
          <a:xfrm>
            <a:off x="698500" y="723900"/>
            <a:ext cx="10160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700" b="1">
                <a:solidFill>
                  <a:srgbClr val="171B21"/>
                </a:solidFill>
                <a:latin typeface="Aptos" panose="020B0004020202020204" pitchFamily="34" charset="0"/>
              </a:rPr>
              <a:t>Conclusão e evolução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D71FA75-68FD-6C08-10A1-89A4E28252AB}"/>
              </a:ext>
            </a:extLst>
          </p:cNvPr>
          <p:cNvSpPr txBox="1"/>
          <p:nvPr/>
        </p:nvSpPr>
        <p:spPr>
          <a:xfrm>
            <a:off x="698500" y="6413500"/>
            <a:ext cx="1016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900">
                <a:solidFill>
                  <a:srgbClr val="847668"/>
                </a:solidFill>
                <a:latin typeface="Aptos" panose="020B0004020202020204" pitchFamily="34" charset="0"/>
              </a:rPr>
              <a:t>+Apoio  |  PAP  |  11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177DA42-4C0F-7E71-D0DF-205544FB6274}"/>
              </a:ext>
            </a:extLst>
          </p:cNvPr>
          <p:cNvSpPr txBox="1"/>
          <p:nvPr/>
        </p:nvSpPr>
        <p:spPr>
          <a:xfrm>
            <a:off x="825500" y="1587500"/>
            <a:ext cx="4445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 b="1">
                <a:solidFill>
                  <a:srgbClr val="171B21"/>
                </a:solidFill>
                <a:latin typeface="Aptos" panose="020B0004020202020204" pitchFamily="34" charset="0"/>
              </a:rPr>
              <a:t>O que já foi alcançado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BB5A318-A676-9BC6-444A-24B95B90BE01}"/>
              </a:ext>
            </a:extLst>
          </p:cNvPr>
          <p:cNvSpPr/>
          <p:nvPr/>
        </p:nvSpPr>
        <p:spPr>
          <a:xfrm>
            <a:off x="952500" y="23495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1859253-334C-E3A7-5EE2-ED778F94792F}"/>
              </a:ext>
            </a:extLst>
          </p:cNvPr>
          <p:cNvSpPr txBox="1"/>
          <p:nvPr/>
        </p:nvSpPr>
        <p:spPr>
          <a:xfrm>
            <a:off x="1257300" y="22860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Protótipo funcional de apoio domiciliário.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E6F84E0-4002-AFFF-C42D-2E21B95FB546}"/>
              </a:ext>
            </a:extLst>
          </p:cNvPr>
          <p:cNvSpPr/>
          <p:nvPr/>
        </p:nvSpPr>
        <p:spPr>
          <a:xfrm>
            <a:off x="952500" y="30099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ABEB558-B987-956D-0B13-C1AC0FB685E7}"/>
              </a:ext>
            </a:extLst>
          </p:cNvPr>
          <p:cNvSpPr txBox="1"/>
          <p:nvPr/>
        </p:nvSpPr>
        <p:spPr>
          <a:xfrm>
            <a:off x="1257300" y="29464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Gestão integrada de informação operacional.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61945A8-0D3B-0AD9-8D3E-60C84C4F5A42}"/>
              </a:ext>
            </a:extLst>
          </p:cNvPr>
          <p:cNvSpPr/>
          <p:nvPr/>
        </p:nvSpPr>
        <p:spPr>
          <a:xfrm>
            <a:off x="952500" y="36703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B3FE9B9-4DF8-06C0-60F6-3EAE52A5E5BC}"/>
              </a:ext>
            </a:extLst>
          </p:cNvPr>
          <p:cNvSpPr txBox="1"/>
          <p:nvPr/>
        </p:nvSpPr>
        <p:spPr>
          <a:xfrm>
            <a:off x="1257300" y="36068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Base SQLite ligada através de PHP.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0DFFD24E-5F4C-BB22-00B8-4AF4F4579191}"/>
              </a:ext>
            </a:extLst>
          </p:cNvPr>
          <p:cNvSpPr/>
          <p:nvPr/>
        </p:nvSpPr>
        <p:spPr>
          <a:xfrm>
            <a:off x="952500" y="43307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F9B6308-D19F-D776-B278-74038B509925}"/>
              </a:ext>
            </a:extLst>
          </p:cNvPr>
          <p:cNvSpPr txBox="1"/>
          <p:nvPr/>
        </p:nvSpPr>
        <p:spPr>
          <a:xfrm>
            <a:off x="1257300" y="4267200"/>
            <a:ext cx="4953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Navegação GPS para apoiar as visitas.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5DDCCFFA-AAFD-D6F9-5F31-F4DDCDBBE154}"/>
              </a:ext>
            </a:extLst>
          </p:cNvPr>
          <p:cNvSpPr txBox="1"/>
          <p:nvPr/>
        </p:nvSpPr>
        <p:spPr>
          <a:xfrm>
            <a:off x="6858000" y="1587500"/>
            <a:ext cx="3810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2200" b="1">
                <a:solidFill>
                  <a:srgbClr val="171B21"/>
                </a:solidFill>
                <a:latin typeface="Aptos" panose="020B0004020202020204" pitchFamily="34" charset="0"/>
              </a:rPr>
              <a:t>Próximos passos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6ED6A016-B026-10E3-3D5D-E276C2B7A69A}"/>
              </a:ext>
            </a:extLst>
          </p:cNvPr>
          <p:cNvSpPr/>
          <p:nvPr/>
        </p:nvSpPr>
        <p:spPr>
          <a:xfrm>
            <a:off x="6985000" y="23495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3EBDD782-FC96-7331-42B2-88EEAA6A6959}"/>
              </a:ext>
            </a:extLst>
          </p:cNvPr>
          <p:cNvSpPr txBox="1"/>
          <p:nvPr/>
        </p:nvSpPr>
        <p:spPr>
          <a:xfrm>
            <a:off x="7289800" y="22860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Autenticação e perfis de utilizador.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1A0F2EB2-1E3A-CADB-D0BE-DC0A133C40F2}"/>
              </a:ext>
            </a:extLst>
          </p:cNvPr>
          <p:cNvSpPr/>
          <p:nvPr/>
        </p:nvSpPr>
        <p:spPr>
          <a:xfrm>
            <a:off x="6985000" y="30099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FB8E2111-4F9B-86C3-F0C3-3DCC44D7811B}"/>
              </a:ext>
            </a:extLst>
          </p:cNvPr>
          <p:cNvSpPr txBox="1"/>
          <p:nvPr/>
        </p:nvSpPr>
        <p:spPr>
          <a:xfrm>
            <a:off x="7289800" y="29464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Permissões e auditoria de acessos.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68588738-D870-F844-1542-26CA2772E6B4}"/>
              </a:ext>
            </a:extLst>
          </p:cNvPr>
          <p:cNvSpPr/>
          <p:nvPr/>
        </p:nvSpPr>
        <p:spPr>
          <a:xfrm>
            <a:off x="6985000" y="36703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AEEF524A-8BC8-173E-DE32-26E953AD5BC8}"/>
              </a:ext>
            </a:extLst>
          </p:cNvPr>
          <p:cNvSpPr txBox="1"/>
          <p:nvPr/>
        </p:nvSpPr>
        <p:spPr>
          <a:xfrm>
            <a:off x="7289800" y="36068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Cópias de segurança automáticas.</a:t>
            </a:r>
          </a:p>
        </p:txBody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1B9BEC7E-7849-DA31-AEE0-14960E0F63A3}"/>
              </a:ext>
            </a:extLst>
          </p:cNvPr>
          <p:cNvSpPr/>
          <p:nvPr/>
        </p:nvSpPr>
        <p:spPr>
          <a:xfrm>
            <a:off x="6985000" y="4330700"/>
            <a:ext cx="114300" cy="114300"/>
          </a:xfrm>
          <a:prstGeom prst="roundRect">
            <a:avLst/>
          </a:prstGeom>
          <a:solidFill>
            <a:srgbClr val="0D6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294E063F-B097-CECE-02FB-959730D4E115}"/>
              </a:ext>
            </a:extLst>
          </p:cNvPr>
          <p:cNvSpPr txBox="1"/>
          <p:nvPr/>
        </p:nvSpPr>
        <p:spPr>
          <a:xfrm>
            <a:off x="7289800" y="4267200"/>
            <a:ext cx="4318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800">
                <a:solidFill>
                  <a:srgbClr val="383226"/>
                </a:solidFill>
                <a:latin typeface="Aptos" panose="020B0004020202020204" pitchFamily="34" charset="0"/>
              </a:rPr>
              <a:t>Cumprimento das regras de proteção de dados.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4C6BDCDA-43B0-24B9-7C57-CAD1D405CD7F}"/>
              </a:ext>
            </a:extLst>
          </p:cNvPr>
          <p:cNvSpPr/>
          <p:nvPr/>
        </p:nvSpPr>
        <p:spPr>
          <a:xfrm>
            <a:off x="825500" y="5461000"/>
            <a:ext cx="10477500" cy="533400"/>
          </a:xfrm>
          <a:prstGeom prst="roundRect">
            <a:avLst/>
          </a:prstGeom>
          <a:solidFill>
            <a:srgbClr val="171B2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D89CD79D-F05C-F197-42D6-601C9E5A9DB2}"/>
              </a:ext>
            </a:extLst>
          </p:cNvPr>
          <p:cNvSpPr txBox="1"/>
          <p:nvPr/>
        </p:nvSpPr>
        <p:spPr>
          <a:xfrm>
            <a:off x="3175000" y="5613400"/>
            <a:ext cx="584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PT" sz="1700" b="1">
                <a:solidFill>
                  <a:srgbClr val="FFFFFF"/>
                </a:solidFill>
                <a:latin typeface="Aptos" panose="020B0004020202020204" pitchFamily="34" charset="0"/>
              </a:rPr>
              <a:t>+Apoio : tecnologia para apoiar quem cuida.</a:t>
            </a:r>
          </a:p>
        </p:txBody>
      </p:sp>
    </p:spTree>
    <p:extLst>
      <p:ext uri="{BB962C8B-B14F-4D97-AF65-F5344CB8AC3E}">
        <p14:creationId xmlns:p14="http://schemas.microsoft.com/office/powerpoint/2010/main" val="38789740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767</Words>
  <Application>Microsoft Office PowerPoint</Application>
  <PresentationFormat>Apresentação no Ecrã (16:9)</PresentationFormat>
  <Paragraphs>128</Paragraphs>
  <Slides>11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Rodrigo Alexandre Paredes da Silva</dc:creator>
  <cp:lastModifiedBy>Rodrigo Alexandre Paredes da Silva</cp:lastModifiedBy>
  <cp:revision>1</cp:revision>
  <dcterms:created xsi:type="dcterms:W3CDTF">2026-10-09T14:09:56Z</dcterms:created>
  <dcterms:modified xsi:type="dcterms:W3CDTF">2026-10-09T14:09:56Z</dcterms:modified>
</cp:coreProperties>
</file>