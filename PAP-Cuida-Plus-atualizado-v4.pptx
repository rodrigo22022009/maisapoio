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pt-P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E987EE-9BD6-463C-9DDF-F518EAC9FB16}" v="2" dt="2026-10-09T14:24:19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lexandre Paredes da Silva" userId="544e5b38-90ea-4559-bf76-249e136811bc" providerId="ADAL" clId="{B984039E-A645-4338-A4E9-3533B2B1C3CA}"/>
    <pc:docChg chg="custSel modSld">
      <pc:chgData name="Rodrigo Alexandre Paredes da Silva" userId="544e5b38-90ea-4559-bf76-249e136811bc" providerId="ADAL" clId="{B984039E-A645-4338-A4E9-3533B2B1C3CA}" dt="2026-10-09T14:24:43.415" v="16" actId="20577"/>
      <pc:docMkLst>
        <pc:docMk/>
      </pc:docMkLst>
      <pc:sldChg chg="modSp mod">
        <pc:chgData name="Rodrigo Alexandre Paredes da Silva" userId="544e5b38-90ea-4559-bf76-249e136811bc" providerId="ADAL" clId="{B984039E-A645-4338-A4E9-3533B2B1C3CA}" dt="2026-10-09T14:24:43.415" v="16" actId="20577"/>
        <pc:sldMkLst>
          <pc:docMk/>
          <pc:sldMk cId="2006443163" sldId="258"/>
        </pc:sldMkLst>
        <pc:spChg chg="mod">
          <ac:chgData name="Rodrigo Alexandre Paredes da Silva" userId="544e5b38-90ea-4559-bf76-249e136811bc" providerId="ADAL" clId="{B984039E-A645-4338-A4E9-3533B2B1C3CA}" dt="2026-10-09T14:24:19.256" v="5" actId="14100"/>
          <ac:spMkLst>
            <pc:docMk/>
            <pc:sldMk cId="2006443163" sldId="258"/>
            <ac:spMk id="18" creationId="{C286F19C-BB6C-1F55-C63C-5E0B2EEE4C22}"/>
          </ac:spMkLst>
        </pc:spChg>
        <pc:spChg chg="mod">
          <ac:chgData name="Rodrigo Alexandre Paredes da Silva" userId="544e5b38-90ea-4559-bf76-249e136811bc" providerId="ADAL" clId="{B984039E-A645-4338-A4E9-3533B2B1C3CA}" dt="2026-10-09T14:24:14.029" v="3" actId="1076"/>
          <ac:spMkLst>
            <pc:docMk/>
            <pc:sldMk cId="2006443163" sldId="258"/>
            <ac:spMk id="19" creationId="{6046B373-1C62-52A2-DC3F-026F7378A045}"/>
          </ac:spMkLst>
        </pc:spChg>
        <pc:spChg chg="mod">
          <ac:chgData name="Rodrigo Alexandre Paredes da Silva" userId="544e5b38-90ea-4559-bf76-249e136811bc" providerId="ADAL" clId="{B984039E-A645-4338-A4E9-3533B2B1C3CA}" dt="2026-10-09T14:24:43.415" v="16" actId="20577"/>
          <ac:spMkLst>
            <pc:docMk/>
            <pc:sldMk cId="2006443163" sldId="258"/>
            <ac:spMk id="20" creationId="{026A137E-A0C3-02D6-772D-C0D0F67EF3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27076-928F-727E-DAC4-05B15EEC0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6795DE-481D-C123-5E24-1BC2DD374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EA312B-3141-A07A-F6CD-ACB09CCE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0EF37E5-3D78-FD9A-3202-6B05BDF6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2D29F6A-3742-253B-D4A9-029ACB22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691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F4D38-D266-44A6-282A-35C61993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6E6DC26-0146-6ECE-B134-EC3117EA4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AD534F-F1B2-FE6B-A42E-D8BF6578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F2E04EE-5A96-694E-0B02-9C62CA93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01B3D53-C73A-C989-7522-6B41F315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2661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4655A-7725-B753-FC91-8DFBF9FF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6549A92-3B20-E986-BDF6-4291DD005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44E3F0D-C156-0817-B425-63ED73BB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72230A8-5C47-9F48-0E96-01B3F8AF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7BD919-F4AA-7319-92A4-24BBA4B3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633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4E7AE-BCA9-8680-6A63-D549CCA3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60DDA5-544F-9200-8654-3948D4CCB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12F5393-26CA-0AD4-5B70-B3E87697B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2E4F3A3-F4CF-0DCD-ED10-8A7FF249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CAD0D8C-0031-5C9B-1ADD-28BAFCCE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1636C63-95A2-32B6-CDBD-9244B691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86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F9A78-9FF3-4B6D-AA12-A2591564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ED00DA4-0DDC-FF9F-EB7B-B3B081F06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B45F730-B7ED-D3A6-C6D1-9E334F3F2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F05CA3A-B1C0-9E91-51A6-7F340D99F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4CF9A40-547E-8995-DDA1-CAAB6A1BD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91A9FAC-9409-E4B6-4894-29EC9C8B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11313A1-496D-F023-6BBF-F6B30BB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CC46695-30DE-BAA9-3E22-3797D417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192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205DF-57E5-5E02-B02E-C450FC69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638D50D-0B66-9E85-D45A-ECCA5435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3959F0F-78C7-177C-E699-74747506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B0ED963-EEB5-EAC6-F05D-C0A92014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175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D0EE192-C9D7-BB8E-E67A-9A43214B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97A3F7E-B349-10B4-B9FD-BBDCCA07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3C8F3B9-FE0C-18AD-2ADE-5B849070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729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75BC2-795F-9959-4F2B-E7F4C49F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A4EEC5C-88FC-800B-D98D-E79DF4398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54E2335-9C62-E5F7-C736-1CC34CF3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605B2DE-853C-056C-5337-D28F7D38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2C61135-641D-E45A-C754-6077E21A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CF19906-F86F-3A08-0134-F5CF401C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505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6C82C-FBCB-596D-5881-41CEF60B9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374041D-937F-64CB-468E-4D44AB08ED5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4B5C7E1-9911-2C2E-1785-D1ACBBB25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A0A8327-C83A-28CF-1AA6-2997C356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2799BF1-5B05-4C42-9ECA-5768695F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F14D809-83AE-AD87-FE5E-ADC1CBD5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445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10156-CBF5-32A6-4BB6-DBDD8AEA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22576A0-5A45-A7AF-7651-3DC6721E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59DCB15-B398-8B50-E990-8D56F328A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675A94E-A90D-8FB9-EC7B-BBA4B6D9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A18629-6EDB-B592-8D9B-50006D1B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695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7C883C-9BBC-3D9E-FB0B-26C3A1A1B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5FD99D8-CB32-95FB-1CF6-F7580D1B1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DF438AC-D026-2361-3CBB-BE6D276E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7C31F18-4926-EC70-121F-49E70A751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8DBBEB1-BA7C-B4F4-C5B4-A770FC80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40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41EA3B0-18D4-8AA4-522F-F418D8AE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0A7207E-70D7-F8AF-72F0-EA0E9D82E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53FA6FF-0531-2307-690E-4BCF6F45D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5AC8351-34E6-41F7-A500-0DB32DE3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8D1ECB2-B067-E830-64E3-F091EB337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703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FD93542-DFA9-300B-577C-B5136C445B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8702B12-A4A1-4C04-9B50-1B1935613A74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02D5E2-AD3D-21CB-D1AC-C594347104F5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1B9C709-9AE4-06A5-CBF0-AC654789E10E}"/>
              </a:ext>
            </a:extLst>
          </p:cNvPr>
          <p:cNvSpPr/>
          <p:nvPr/>
        </p:nvSpPr>
        <p:spPr>
          <a:xfrm>
            <a:off x="8953500" y="1333500"/>
            <a:ext cx="2095500" cy="2095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3F2C24-6550-37F6-9375-F71DBFB50A3A}"/>
              </a:ext>
            </a:extLst>
          </p:cNvPr>
          <p:cNvSpPr txBox="1"/>
          <p:nvPr/>
        </p:nvSpPr>
        <p:spPr>
          <a:xfrm>
            <a:off x="9550400" y="1524000"/>
            <a:ext cx="9525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7600" b="1">
                <a:solidFill>
                  <a:srgbClr val="171B21"/>
                </a:solidFill>
                <a:latin typeface="Aptos Display" panose="020B0004020202020204" pitchFamily="34" charset="0"/>
              </a:rPr>
              <a:t>+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2218EA-B7FD-8996-9B11-20CEAA028C5C}"/>
              </a:ext>
            </a:extLst>
          </p:cNvPr>
          <p:cNvSpPr txBox="1"/>
          <p:nvPr/>
        </p:nvSpPr>
        <p:spPr>
          <a:xfrm>
            <a:off x="889000" y="11938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4500" b="1">
                <a:solidFill>
                  <a:srgbClr val="FFFFFF"/>
                </a:solidFill>
                <a:latin typeface="Aptos Display" panose="020B0004020202020204" pitchFamily="34" charset="0"/>
              </a:rPr>
              <a:t>+Apoio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F9491C-4F06-40C3-0969-DD3B48B35855}"/>
              </a:ext>
            </a:extLst>
          </p:cNvPr>
          <p:cNvSpPr txBox="1"/>
          <p:nvPr/>
        </p:nvSpPr>
        <p:spPr>
          <a:xfrm>
            <a:off x="939800" y="2209800"/>
            <a:ext cx="685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500" b="1">
                <a:solidFill>
                  <a:srgbClr val="4BB0D7"/>
                </a:solidFill>
                <a:latin typeface="Aptos" panose="020B0004020202020204" pitchFamily="34" charset="0"/>
              </a:rPr>
              <a:t>Plataforma de apoio domiciliário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415BA6-8D2B-19EB-CDEB-B311B7B360E6}"/>
              </a:ext>
            </a:extLst>
          </p:cNvPr>
          <p:cNvSpPr txBox="1"/>
          <p:nvPr/>
        </p:nvSpPr>
        <p:spPr>
          <a:xfrm>
            <a:off x="939800" y="3111500"/>
            <a:ext cx="635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900">
                <a:solidFill>
                  <a:srgbClr val="FFFFFF"/>
                </a:solidFill>
                <a:latin typeface="Aptos" panose="020B0004020202020204" pitchFamily="34" charset="0"/>
              </a:rPr>
              <a:t>Uma solução digital para ligar beneficiários, médicos voluntários e coordenação.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BE30EB9-8A6D-B433-80DD-AC2FEB9B4F22}"/>
              </a:ext>
            </a:extLst>
          </p:cNvPr>
          <p:cNvSpPr/>
          <p:nvPr/>
        </p:nvSpPr>
        <p:spPr>
          <a:xfrm>
            <a:off x="939800" y="4445000"/>
            <a:ext cx="5461000" cy="254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65C308-52C8-5B5D-F416-0E83CDEA5CA7}"/>
              </a:ext>
            </a:extLst>
          </p:cNvPr>
          <p:cNvSpPr txBox="1"/>
          <p:nvPr/>
        </p:nvSpPr>
        <p:spPr>
          <a:xfrm>
            <a:off x="939800" y="48514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FFFFFF"/>
                </a:solidFill>
                <a:latin typeface="Aptos" panose="020B0004020202020204" pitchFamily="34" charset="0"/>
              </a:rPr>
              <a:t>Prova de Aptidão Profissional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86F520-D5EA-1B01-5C63-BAE50CA11B11}"/>
              </a:ext>
            </a:extLst>
          </p:cNvPr>
          <p:cNvSpPr txBox="1"/>
          <p:nvPr/>
        </p:nvSpPr>
        <p:spPr>
          <a:xfrm>
            <a:off x="939800" y="53213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Nome: ____________________    Curso: ____________________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F1BDF16-50C0-46C3-CFE3-36F6DF034AEF}"/>
              </a:ext>
            </a:extLst>
          </p:cNvPr>
          <p:cNvSpPr txBox="1"/>
          <p:nvPr/>
        </p:nvSpPr>
        <p:spPr>
          <a:xfrm>
            <a:off x="939800" y="57150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Escola: ____________________  |  2026</a:t>
            </a:r>
          </a:p>
        </p:txBody>
      </p:sp>
    </p:spTree>
    <p:extLst>
      <p:ext uri="{BB962C8B-B14F-4D97-AF65-F5344CB8AC3E}">
        <p14:creationId xmlns:p14="http://schemas.microsoft.com/office/powerpoint/2010/main" val="40220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0D39680-CFC6-7004-44BD-D22BDFAAA6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4A12318-3AAE-AA36-DBB0-E3DF6BB899B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3E975C-3A4E-D171-7D21-6E54668FE57C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1. PROBLEMA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4CFA88-FE28-9B13-CC1D-7FB22B6495E6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Por que é necessária?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349729-6FAF-C247-C711-83D950528C3E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9B3EE9-B5A1-18C6-8767-628A79CE7BC6}"/>
              </a:ext>
            </a:extLst>
          </p:cNvPr>
          <p:cNvSpPr txBox="1"/>
          <p:nvPr/>
        </p:nvSpPr>
        <p:spPr>
          <a:xfrm>
            <a:off x="698500" y="1587500"/>
            <a:ext cx="1028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No apoio domiciliário, a informação precisa de estar disponível no momento certo.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E9AEE5E-B241-35DA-ADCE-BBE6B0A80A90}"/>
              </a:ext>
            </a:extLst>
          </p:cNvPr>
          <p:cNvSpPr/>
          <p:nvPr/>
        </p:nvSpPr>
        <p:spPr>
          <a:xfrm>
            <a:off x="698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AF92E08-5FE6-7822-5852-B8687B934CA1}"/>
              </a:ext>
            </a:extLst>
          </p:cNvPr>
          <p:cNvSpPr/>
          <p:nvPr/>
        </p:nvSpPr>
        <p:spPr>
          <a:xfrm>
            <a:off x="698500" y="2794000"/>
            <a:ext cx="88900" cy="2032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49AEDA-031E-0ABD-8E91-128185F4927D}"/>
              </a:ext>
            </a:extLst>
          </p:cNvPr>
          <p:cNvSpPr txBox="1"/>
          <p:nvPr/>
        </p:nvSpPr>
        <p:spPr>
          <a:xfrm>
            <a:off x="977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Informação dispersa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05A1F61-1410-26A9-FA0D-952DA4D9D071}"/>
              </a:ext>
            </a:extLst>
          </p:cNvPr>
          <p:cNvSpPr txBox="1"/>
          <p:nvPr/>
        </p:nvSpPr>
        <p:spPr>
          <a:xfrm>
            <a:off x="977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Registos em papel ou ficheiros separados dificultam a consulta e aumentam o risco de falhas.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A0737C8-8819-7762-3684-4EB521774951}"/>
              </a:ext>
            </a:extLst>
          </p:cNvPr>
          <p:cNvSpPr/>
          <p:nvPr/>
        </p:nvSpPr>
        <p:spPr>
          <a:xfrm>
            <a:off x="4254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7014818-1561-895C-E77B-5345EF5792E0}"/>
              </a:ext>
            </a:extLst>
          </p:cNvPr>
          <p:cNvSpPr/>
          <p:nvPr/>
        </p:nvSpPr>
        <p:spPr>
          <a:xfrm>
            <a:off x="4254500" y="2794000"/>
            <a:ext cx="88900" cy="2032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D1696CC-D45D-647E-3433-D56E6D93A78D}"/>
              </a:ext>
            </a:extLst>
          </p:cNvPr>
          <p:cNvSpPr txBox="1"/>
          <p:nvPr/>
        </p:nvSpPr>
        <p:spPr>
          <a:xfrm>
            <a:off x="4533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Coordenação difícil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1F4AAC6-5FE0-9843-7986-C28CAB4168A2}"/>
              </a:ext>
            </a:extLst>
          </p:cNvPr>
          <p:cNvSpPr txBox="1"/>
          <p:nvPr/>
        </p:nvSpPr>
        <p:spPr>
          <a:xfrm>
            <a:off x="4533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É necessário relacionar beneficiários, médicos, horários, necessidades e estado das visitas.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15031D8-C968-A8F9-9FC3-00614DDD4CE9}"/>
              </a:ext>
            </a:extLst>
          </p:cNvPr>
          <p:cNvSpPr/>
          <p:nvPr/>
        </p:nvSpPr>
        <p:spPr>
          <a:xfrm>
            <a:off x="7810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2C2EFB0-B730-3650-3DA2-01F284548BA0}"/>
              </a:ext>
            </a:extLst>
          </p:cNvPr>
          <p:cNvSpPr/>
          <p:nvPr/>
        </p:nvSpPr>
        <p:spPr>
          <a:xfrm>
            <a:off x="7810500" y="2794000"/>
            <a:ext cx="88900" cy="2032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23CAF5B-75AB-BEEA-772F-D6445BAF1C5C}"/>
              </a:ext>
            </a:extLst>
          </p:cNvPr>
          <p:cNvSpPr txBox="1"/>
          <p:nvPr/>
        </p:nvSpPr>
        <p:spPr>
          <a:xfrm>
            <a:off x="8089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Deslocações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7DA797-E13B-C129-CDA8-DA763D3CF3F8}"/>
              </a:ext>
            </a:extLst>
          </p:cNvPr>
          <p:cNvSpPr txBox="1"/>
          <p:nvPr/>
        </p:nvSpPr>
        <p:spPr>
          <a:xfrm>
            <a:off x="8089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O profissional precisa de chegar rapidamente à morada correta do beneficiário.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0486FB-5DD0-E153-6CC8-1E476298AEEB}"/>
              </a:ext>
            </a:extLst>
          </p:cNvPr>
          <p:cNvSpPr txBox="1"/>
          <p:nvPr/>
        </p:nvSpPr>
        <p:spPr>
          <a:xfrm>
            <a:off x="698500" y="54610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847668"/>
                </a:solidFill>
                <a:latin typeface="Aptos" panose="020B0004020202020204" pitchFamily="34" charset="0"/>
              </a:rPr>
              <a:t>A proposta é centralizar a gestão num painel simples, visual e preparado para evoluir.</a:t>
            </a:r>
          </a:p>
        </p:txBody>
      </p:sp>
    </p:spTree>
    <p:extLst>
      <p:ext uri="{BB962C8B-B14F-4D97-AF65-F5344CB8AC3E}">
        <p14:creationId xmlns:p14="http://schemas.microsoft.com/office/powerpoint/2010/main" val="404267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ACAB823-21C9-1D6F-FA42-80902FA470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4717D3-C202-D788-186D-0A8428A4352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6BB58A-6B6F-0C43-588B-7464B9A5B940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2. 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5C3985-7BFD-5A1E-3645-571339144D33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A resposta: +Apoio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0446A9-F60D-B940-17DF-6CC3469A53FF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679F60-8EBB-E523-BEB1-F74CD3A17010}"/>
              </a:ext>
            </a:extLst>
          </p:cNvPr>
          <p:cNvSpPr txBox="1"/>
          <p:nvPr/>
        </p:nvSpPr>
        <p:spPr>
          <a:xfrm>
            <a:off x="698500" y="15875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Uma plataforma única para organizar, acompanhar e cuidar.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49750A2-1A4A-4023-DE92-55F00C3B4632}"/>
              </a:ext>
            </a:extLst>
          </p:cNvPr>
          <p:cNvSpPr/>
          <p:nvPr/>
        </p:nvSpPr>
        <p:spPr>
          <a:xfrm>
            <a:off x="952500" y="2413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879A81-865A-053F-0406-CE467E2386CB}"/>
              </a:ext>
            </a:extLst>
          </p:cNvPr>
          <p:cNvSpPr txBox="1"/>
          <p:nvPr/>
        </p:nvSpPr>
        <p:spPr>
          <a:xfrm>
            <a:off x="1257300" y="23495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Centralizar os dados dos beneficiários, médicos e apoios.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C46C1DD-7404-D6DE-F0FF-87DF2974C102}"/>
              </a:ext>
            </a:extLst>
          </p:cNvPr>
          <p:cNvSpPr/>
          <p:nvPr/>
        </p:nvSpPr>
        <p:spPr>
          <a:xfrm>
            <a:off x="952500" y="3073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BB1602F-4352-510A-3A51-E6A58B946ADF}"/>
              </a:ext>
            </a:extLst>
          </p:cNvPr>
          <p:cNvSpPr txBox="1"/>
          <p:nvPr/>
        </p:nvSpPr>
        <p:spPr>
          <a:xfrm>
            <a:off x="1257300" y="30099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Permitir criar, editar, pesquisar e eliminar registos.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E6DDD0E-F80A-C8A6-94D6-B2011025EEFB}"/>
              </a:ext>
            </a:extLst>
          </p:cNvPr>
          <p:cNvSpPr/>
          <p:nvPr/>
        </p:nvSpPr>
        <p:spPr>
          <a:xfrm>
            <a:off x="952500" y="3733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E47E131-BAAD-42FC-4F3F-BDED558C90FD}"/>
              </a:ext>
            </a:extLst>
          </p:cNvPr>
          <p:cNvSpPr txBox="1"/>
          <p:nvPr/>
        </p:nvSpPr>
        <p:spPr>
          <a:xfrm>
            <a:off x="1257300" y="36703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Acompanhar a agenda e o estado de cada apoio.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9A5678F-882D-6EF1-CBCB-EBB4BDD8835E}"/>
              </a:ext>
            </a:extLst>
          </p:cNvPr>
          <p:cNvSpPr/>
          <p:nvPr/>
        </p:nvSpPr>
        <p:spPr>
          <a:xfrm>
            <a:off x="952500" y="4394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7A74405-4B93-6AA1-07ED-BFBCF5273E0B}"/>
              </a:ext>
            </a:extLst>
          </p:cNvPr>
          <p:cNvSpPr txBox="1"/>
          <p:nvPr/>
        </p:nvSpPr>
        <p:spPr>
          <a:xfrm>
            <a:off x="1257300" y="43307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Facilitar a deslocação até ao beneficiário através de GPS.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233B101-673A-0CC0-B84F-89B3C53063BB}"/>
              </a:ext>
            </a:extLst>
          </p:cNvPr>
          <p:cNvSpPr/>
          <p:nvPr/>
        </p:nvSpPr>
        <p:spPr>
          <a:xfrm>
            <a:off x="952500" y="5054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020D190-4F2F-C318-DE34-5321C8122A79}"/>
              </a:ext>
            </a:extLst>
          </p:cNvPr>
          <p:cNvSpPr txBox="1"/>
          <p:nvPr/>
        </p:nvSpPr>
        <p:spPr>
          <a:xfrm>
            <a:off x="1257300" y="49911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Criar uma base sólida para uma aplicação real com autenticação e permissões.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286F19C-BB6C-1F55-C63C-5E0B2EEE4C22}"/>
              </a:ext>
            </a:extLst>
          </p:cNvPr>
          <p:cNvSpPr/>
          <p:nvPr/>
        </p:nvSpPr>
        <p:spPr>
          <a:xfrm>
            <a:off x="9575799" y="1361732"/>
            <a:ext cx="2528683" cy="361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046B373-1C62-52A2-DC3F-026F7378A045}"/>
              </a:ext>
            </a:extLst>
          </p:cNvPr>
          <p:cNvSpPr txBox="1"/>
          <p:nvPr/>
        </p:nvSpPr>
        <p:spPr>
          <a:xfrm>
            <a:off x="10312400" y="1555534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 dirty="0">
                <a:solidFill>
                  <a:srgbClr val="FFFFFF"/>
                </a:solidFill>
                <a:latin typeface="Aptos" panose="020B0004020202020204" pitchFamily="34" charset="0"/>
              </a:rPr>
              <a:t>FOCO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6A137E-A0C3-02D6-772D-C0D0F67EF39C}"/>
              </a:ext>
            </a:extLst>
          </p:cNvPr>
          <p:cNvSpPr txBox="1"/>
          <p:nvPr/>
        </p:nvSpPr>
        <p:spPr>
          <a:xfrm>
            <a:off x="9861549" y="2501130"/>
            <a:ext cx="2016597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300" b="1" dirty="0">
                <a:solidFill>
                  <a:srgbClr val="FFFFFF"/>
                </a:solidFill>
                <a:latin typeface="Aptos Display" panose="020B0004020202020204" pitchFamily="34" charset="0"/>
              </a:rPr>
              <a:t>-Organizar </a:t>
            </a:r>
          </a:p>
          <a:p>
            <a:r>
              <a:rPr lang="pt-PT" sz="2300" b="1" dirty="0">
                <a:solidFill>
                  <a:srgbClr val="FFFFFF"/>
                </a:solidFill>
                <a:latin typeface="Aptos Display" panose="020B0004020202020204" pitchFamily="34" charset="0"/>
              </a:rPr>
              <a:t>-Acompanhar </a:t>
            </a:r>
          </a:p>
          <a:p>
            <a:r>
              <a:rPr lang="pt-PT" sz="2300" b="1" dirty="0">
                <a:solidFill>
                  <a:srgbClr val="FFFFFF"/>
                </a:solidFill>
                <a:latin typeface="Aptos Display" panose="020B0004020202020204" pitchFamily="34" charset="0"/>
              </a:rPr>
              <a:t> - Cuidar</a:t>
            </a:r>
          </a:p>
        </p:txBody>
      </p:sp>
    </p:spTree>
    <p:extLst>
      <p:ext uri="{BB962C8B-B14F-4D97-AF65-F5344CB8AC3E}">
        <p14:creationId xmlns:p14="http://schemas.microsoft.com/office/powerpoint/2010/main" val="200644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0F181B-DCC3-C70E-9A72-85E7856596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488CCB-F772-A088-3725-03C7DC005BF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39E7B9-A317-F8FD-D6BF-657B9E60EF57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4B0B08-653C-A92F-D640-6942AABD14A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Funcionalidades principais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A1D8C3-004E-B219-BB9F-9D98BCAE8A13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33413C0-BFC1-3844-2C15-C299E461E921}"/>
              </a:ext>
            </a:extLst>
          </p:cNvPr>
          <p:cNvSpPr/>
          <p:nvPr/>
        </p:nvSpPr>
        <p:spPr>
          <a:xfrm>
            <a:off x="698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E93D39-6363-DDEC-64F5-55D62CEF4C95}"/>
              </a:ext>
            </a:extLst>
          </p:cNvPr>
          <p:cNvSpPr/>
          <p:nvPr/>
        </p:nvSpPr>
        <p:spPr>
          <a:xfrm>
            <a:off x="698500" y="15875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F56D72-D087-90C1-49C0-7AFE04AE1ECB}"/>
              </a:ext>
            </a:extLst>
          </p:cNvPr>
          <p:cNvSpPr txBox="1"/>
          <p:nvPr/>
        </p:nvSpPr>
        <p:spPr>
          <a:xfrm>
            <a:off x="977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558E5B-40F6-E7E8-AF77-7EDD942D483E}"/>
              </a:ext>
            </a:extLst>
          </p:cNvPr>
          <p:cNvSpPr txBox="1"/>
          <p:nvPr/>
        </p:nvSpPr>
        <p:spPr>
          <a:xfrm>
            <a:off x="977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Indicadores de beneficiários, médicos, apoios agendados e casos prioritários.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AEEC773-BF7B-3BED-0386-8F2742667D6E}"/>
              </a:ext>
            </a:extLst>
          </p:cNvPr>
          <p:cNvSpPr/>
          <p:nvPr/>
        </p:nvSpPr>
        <p:spPr>
          <a:xfrm>
            <a:off x="44450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74DFD3C-5E24-E648-C856-8A5249CBBA2F}"/>
              </a:ext>
            </a:extLst>
          </p:cNvPr>
          <p:cNvSpPr/>
          <p:nvPr/>
        </p:nvSpPr>
        <p:spPr>
          <a:xfrm>
            <a:off x="4445000" y="15875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12252F0-07BD-1AE1-A245-C4F2CC35DFA5}"/>
              </a:ext>
            </a:extLst>
          </p:cNvPr>
          <p:cNvSpPr txBox="1"/>
          <p:nvPr/>
        </p:nvSpPr>
        <p:spPr>
          <a:xfrm>
            <a:off x="47244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Beneficiários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22151E1-FCFB-DA9D-6FBB-94827CABCFAC}"/>
              </a:ext>
            </a:extLst>
          </p:cNvPr>
          <p:cNvSpPr txBox="1"/>
          <p:nvPr/>
        </p:nvSpPr>
        <p:spPr>
          <a:xfrm>
            <a:off x="47244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Dados pessoais, morada, necessidade, prioridade, contacto e observações.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1BCFE46-95BC-F0A7-9719-2F237641545B}"/>
              </a:ext>
            </a:extLst>
          </p:cNvPr>
          <p:cNvSpPr/>
          <p:nvPr/>
        </p:nvSpPr>
        <p:spPr>
          <a:xfrm>
            <a:off x="8191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3297B54-CDA4-B2D4-4774-37CAA52A02F8}"/>
              </a:ext>
            </a:extLst>
          </p:cNvPr>
          <p:cNvSpPr/>
          <p:nvPr/>
        </p:nvSpPr>
        <p:spPr>
          <a:xfrm>
            <a:off x="8191500" y="15875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FBF2748-5858-52A8-8F4D-782A669E1AA7}"/>
              </a:ext>
            </a:extLst>
          </p:cNvPr>
          <p:cNvSpPr txBox="1"/>
          <p:nvPr/>
        </p:nvSpPr>
        <p:spPr>
          <a:xfrm>
            <a:off x="8470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Médicos voluntários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9E5AD39-CC63-FC97-83D0-8E3FDB211BDB}"/>
              </a:ext>
            </a:extLst>
          </p:cNvPr>
          <p:cNvSpPr txBox="1"/>
          <p:nvPr/>
        </p:nvSpPr>
        <p:spPr>
          <a:xfrm>
            <a:off x="8470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Especialidade, disponibilidade, contacto, localidade e áreas de apoio.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BDFC9FC-28CD-8112-D240-02AD392B5F92}"/>
              </a:ext>
            </a:extLst>
          </p:cNvPr>
          <p:cNvSpPr/>
          <p:nvPr/>
        </p:nvSpPr>
        <p:spPr>
          <a:xfrm>
            <a:off x="698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2986AF0-583E-24E2-324F-33CFD3EEFFF5}"/>
              </a:ext>
            </a:extLst>
          </p:cNvPr>
          <p:cNvSpPr/>
          <p:nvPr/>
        </p:nvSpPr>
        <p:spPr>
          <a:xfrm>
            <a:off x="698500" y="38100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B8A3A89-568F-7100-1A1E-DB087C5A45C0}"/>
              </a:ext>
            </a:extLst>
          </p:cNvPr>
          <p:cNvSpPr txBox="1"/>
          <p:nvPr/>
        </p:nvSpPr>
        <p:spPr>
          <a:xfrm>
            <a:off x="977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Agenda de apoios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1A5E9D6-7256-B968-7984-4A7BAA3304EA}"/>
              </a:ext>
            </a:extLst>
          </p:cNvPr>
          <p:cNvSpPr txBox="1"/>
          <p:nvPr/>
        </p:nvSpPr>
        <p:spPr>
          <a:xfrm>
            <a:off x="977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Agendamento, tipo de visita, médico responsável, beneficiário e estado.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F8F3B97-5D41-F23F-08C3-BB674E4ABC3D}"/>
              </a:ext>
            </a:extLst>
          </p:cNvPr>
          <p:cNvSpPr/>
          <p:nvPr/>
        </p:nvSpPr>
        <p:spPr>
          <a:xfrm>
            <a:off x="44450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0C2DF36-EB5C-04AB-0DFF-BE70AD78FC1D}"/>
              </a:ext>
            </a:extLst>
          </p:cNvPr>
          <p:cNvSpPr/>
          <p:nvPr/>
        </p:nvSpPr>
        <p:spPr>
          <a:xfrm>
            <a:off x="4445000" y="38100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5552A18-7150-EAB9-E472-BDD488D61437}"/>
              </a:ext>
            </a:extLst>
          </p:cNvPr>
          <p:cNvSpPr txBox="1"/>
          <p:nvPr/>
        </p:nvSpPr>
        <p:spPr>
          <a:xfrm>
            <a:off x="47244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Pesquisa e relatórios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A7B1DD6-0C75-4931-3C2E-1162DF88D5B0}"/>
              </a:ext>
            </a:extLst>
          </p:cNvPr>
          <p:cNvSpPr txBox="1"/>
          <p:nvPr/>
        </p:nvSpPr>
        <p:spPr>
          <a:xfrm>
            <a:off x="47244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Filtros, resumo operacional, exportação e cópia de segurança dos dados.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5B692BA-61D9-BB06-9F7B-ECF90108B786}"/>
              </a:ext>
            </a:extLst>
          </p:cNvPr>
          <p:cNvSpPr/>
          <p:nvPr/>
        </p:nvSpPr>
        <p:spPr>
          <a:xfrm>
            <a:off x="8191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5C6EF11-4EC6-CC35-0016-EE527025CDB7}"/>
              </a:ext>
            </a:extLst>
          </p:cNvPr>
          <p:cNvSpPr/>
          <p:nvPr/>
        </p:nvSpPr>
        <p:spPr>
          <a:xfrm>
            <a:off x="8191500" y="38100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B741F7E-6DC8-04D5-3046-442BA2FAD22D}"/>
              </a:ext>
            </a:extLst>
          </p:cNvPr>
          <p:cNvSpPr txBox="1"/>
          <p:nvPr/>
        </p:nvSpPr>
        <p:spPr>
          <a:xfrm>
            <a:off x="8470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Navegação GPS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6DAAC44-DBD2-A612-B415-D2B26AD70341}"/>
              </a:ext>
            </a:extLst>
          </p:cNvPr>
          <p:cNvSpPr txBox="1"/>
          <p:nvPr/>
        </p:nvSpPr>
        <p:spPr>
          <a:xfrm>
            <a:off x="8470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Ação de rota que usa a localização do dispositivo e abre o Google Maps.</a:t>
            </a:r>
          </a:p>
        </p:txBody>
      </p:sp>
    </p:spTree>
    <p:extLst>
      <p:ext uri="{BB962C8B-B14F-4D97-AF65-F5344CB8AC3E}">
        <p14:creationId xmlns:p14="http://schemas.microsoft.com/office/powerpoint/2010/main" val="195716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06C7F83-5ADB-78A0-E236-0AC9FAC0D9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39FEB59-99E1-B599-E24F-83FED1AD395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D3E063-2F8B-0A18-CAE1-214B5AFE7A01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B725E9-4AF1-077A-C8AD-BCC9559CA18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Gestão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33EFB5-E5F2-5C28-30BC-0C4E98F101C8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7BB8C8-0995-3AC1-3884-4B0A11EAFCF6}"/>
              </a:ext>
            </a:extLst>
          </p:cNvPr>
          <p:cNvSpPr txBox="1"/>
          <p:nvPr/>
        </p:nvSpPr>
        <p:spPr>
          <a:xfrm>
            <a:off x="698500" y="15240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A aplicação evoluiu de uma demonstração local para uma arquitetura com servidor.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A18AE84-2CBD-CBD1-6E58-C64B89743040}"/>
              </a:ext>
            </a:extLst>
          </p:cNvPr>
          <p:cNvSpPr/>
          <p:nvPr/>
        </p:nvSpPr>
        <p:spPr>
          <a:xfrm>
            <a:off x="1016000" y="2794000"/>
            <a:ext cx="2794000" cy="107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E71982-3041-B388-C8A2-4E683127E4DB}"/>
              </a:ext>
            </a:extLst>
          </p:cNvPr>
          <p:cNvSpPr txBox="1"/>
          <p:nvPr/>
        </p:nvSpPr>
        <p:spPr>
          <a:xfrm>
            <a:off x="1333500" y="30480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Interface - HTML + CSS + JavaScript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B5E9CA-8F2F-0062-CE82-BD3DE3BBA319}"/>
              </a:ext>
            </a:extLst>
          </p:cNvPr>
          <p:cNvSpPr txBox="1"/>
          <p:nvPr/>
        </p:nvSpPr>
        <p:spPr>
          <a:xfrm>
            <a:off x="43815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1EA7B59-03D3-5910-5FC1-C2C807EEC5EE}"/>
              </a:ext>
            </a:extLst>
          </p:cNvPr>
          <p:cNvSpPr/>
          <p:nvPr/>
        </p:nvSpPr>
        <p:spPr>
          <a:xfrm>
            <a:off x="5143500" y="2794000"/>
            <a:ext cx="2794000" cy="1079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C38D8E1-BC2D-2871-B19C-74C0CE9CB887}"/>
              </a:ext>
            </a:extLst>
          </p:cNvPr>
          <p:cNvSpPr txBox="1"/>
          <p:nvPr/>
        </p:nvSpPr>
        <p:spPr>
          <a:xfrm>
            <a:off x="5969000" y="3048000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Servidor - PHP + PDO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57CA766-A13C-267F-CFAE-EFAE6972B39C}"/>
              </a:ext>
            </a:extLst>
          </p:cNvPr>
          <p:cNvSpPr txBox="1"/>
          <p:nvPr/>
        </p:nvSpPr>
        <p:spPr>
          <a:xfrm>
            <a:off x="85090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9C1E9DC-80AC-2A46-C247-644A4C9117BF}"/>
              </a:ext>
            </a:extLst>
          </p:cNvPr>
          <p:cNvSpPr/>
          <p:nvPr/>
        </p:nvSpPr>
        <p:spPr>
          <a:xfrm>
            <a:off x="9271000" y="2794000"/>
            <a:ext cx="1905000" cy="10795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34F5EF-B53A-CC21-9C4E-BAB19B76E816}"/>
              </a:ext>
            </a:extLst>
          </p:cNvPr>
          <p:cNvSpPr txBox="1"/>
          <p:nvPr/>
        </p:nvSpPr>
        <p:spPr>
          <a:xfrm>
            <a:off x="9550400" y="3048000"/>
            <a:ext cx="139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Base de dados - SQLite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81316E1-8B12-2E37-DE5E-67199391FDDF}"/>
              </a:ext>
            </a:extLst>
          </p:cNvPr>
          <p:cNvSpPr/>
          <p:nvPr/>
        </p:nvSpPr>
        <p:spPr>
          <a:xfrm>
            <a:off x="1206500" y="4699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A47FC26-EA0B-8EFE-735D-5D012C8C1CD5}"/>
              </a:ext>
            </a:extLst>
          </p:cNvPr>
          <p:cNvSpPr txBox="1"/>
          <p:nvPr/>
        </p:nvSpPr>
        <p:spPr>
          <a:xfrm>
            <a:off x="1511300" y="4635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A base é criada automaticamente na primeira execução.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5999ED0-9D6D-CAC7-5DB9-0FD62B0A5AD5}"/>
              </a:ext>
            </a:extLst>
          </p:cNvPr>
          <p:cNvSpPr/>
          <p:nvPr/>
        </p:nvSpPr>
        <p:spPr>
          <a:xfrm>
            <a:off x="1206500" y="5359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358ADBD-FE55-B29B-024F-B34E95ACA64C}"/>
              </a:ext>
            </a:extLst>
          </p:cNvPr>
          <p:cNvSpPr txBox="1"/>
          <p:nvPr/>
        </p:nvSpPr>
        <p:spPr>
          <a:xfrm>
            <a:off x="1511300" y="52959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Os dados ficam disponíveis para a aplicação através da API PHP.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AE670F8-6E84-6B09-A5BE-B99DA8703642}"/>
              </a:ext>
            </a:extLst>
          </p:cNvPr>
          <p:cNvSpPr/>
          <p:nvPr/>
        </p:nvSpPr>
        <p:spPr>
          <a:xfrm>
            <a:off x="1206500" y="6019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3E8B210-1F26-ED29-84F3-B74E2E236DF1}"/>
              </a:ext>
            </a:extLst>
          </p:cNvPr>
          <p:cNvSpPr txBox="1"/>
          <p:nvPr/>
        </p:nvSpPr>
        <p:spPr>
          <a:xfrm>
            <a:off x="1511300" y="59563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 SQLite é gratuito, leve e adequado para o protótipo da PAP.</a:t>
            </a:r>
          </a:p>
        </p:txBody>
      </p:sp>
    </p:spTree>
    <p:extLst>
      <p:ext uri="{BB962C8B-B14F-4D97-AF65-F5344CB8AC3E}">
        <p14:creationId xmlns:p14="http://schemas.microsoft.com/office/powerpoint/2010/main" val="4271518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45FAD7-DFAF-DB68-BA98-11AE047315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7542DCB-F229-B117-8438-93C9C8F502D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3F6E3A-DCE3-D135-C481-F8382ACEA3D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FUNCIONALIDADE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6DEEF3-A864-56F8-5C5A-D5856CA4A5E6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Sistema de navegação GPS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1066B2-7313-D734-E58A-3E3DE7970B36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D56D5EE-CC33-970B-3812-F8D18737F3A1}"/>
              </a:ext>
            </a:extLst>
          </p:cNvPr>
          <p:cNvSpPr/>
          <p:nvPr/>
        </p:nvSpPr>
        <p:spPr>
          <a:xfrm>
            <a:off x="825500" y="1587500"/>
            <a:ext cx="4191000" cy="4000500"/>
          </a:xfrm>
          <a:prstGeom prst="roundRect">
            <a:avLst/>
          </a:prstGeom>
          <a:solidFill>
            <a:srgbClr val="F8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A18D886-B5C7-967F-E7FF-E9A16AC43FAC}"/>
              </a:ext>
            </a:extLst>
          </p:cNvPr>
          <p:cNvSpPr txBox="1"/>
          <p:nvPr/>
        </p:nvSpPr>
        <p:spPr>
          <a:xfrm>
            <a:off x="1206500" y="2032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Rota para o beneficiário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547C3E-F22A-72C1-B145-59156F5C7C64}"/>
              </a:ext>
            </a:extLst>
          </p:cNvPr>
          <p:cNvSpPr txBox="1"/>
          <p:nvPr/>
        </p:nvSpPr>
        <p:spPr>
          <a:xfrm>
            <a:off x="1333500" y="285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B1DECFE-A8CD-DDC8-E33C-F2ED9E839743}"/>
              </a:ext>
            </a:extLst>
          </p:cNvPr>
          <p:cNvSpPr/>
          <p:nvPr/>
        </p:nvSpPr>
        <p:spPr>
          <a:xfrm>
            <a:off x="1333500" y="2857500"/>
            <a:ext cx="508000" cy="508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177DA1A-F6DC-5F16-0E29-69614E7F6EBF}"/>
              </a:ext>
            </a:extLst>
          </p:cNvPr>
          <p:cNvSpPr txBox="1"/>
          <p:nvPr/>
        </p:nvSpPr>
        <p:spPr>
          <a:xfrm>
            <a:off x="2095500" y="2921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O médico seleciona o beneficiário.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98E74A0-275C-933D-A1F0-7BFA2BABDC92}"/>
              </a:ext>
            </a:extLst>
          </p:cNvPr>
          <p:cNvSpPr/>
          <p:nvPr/>
        </p:nvSpPr>
        <p:spPr>
          <a:xfrm>
            <a:off x="1333500" y="3746500"/>
            <a:ext cx="508000" cy="508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EEC826-6611-69C2-E5EE-6B7CAC0BB48B}"/>
              </a:ext>
            </a:extLst>
          </p:cNvPr>
          <p:cNvSpPr txBox="1"/>
          <p:nvPr/>
        </p:nvSpPr>
        <p:spPr>
          <a:xfrm>
            <a:off x="1485900" y="3822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6DB84AC-20E1-72C4-BFFD-37ABF249EB7F}"/>
              </a:ext>
            </a:extLst>
          </p:cNvPr>
          <p:cNvSpPr txBox="1"/>
          <p:nvPr/>
        </p:nvSpPr>
        <p:spPr>
          <a:xfrm>
            <a:off x="2095500" y="3810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aplicação pede a localização atual.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3CB8B1B-70BF-66C5-A7E3-2D7274D9E14C}"/>
              </a:ext>
            </a:extLst>
          </p:cNvPr>
          <p:cNvSpPr/>
          <p:nvPr/>
        </p:nvSpPr>
        <p:spPr>
          <a:xfrm>
            <a:off x="1333500" y="4635500"/>
            <a:ext cx="508000" cy="508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61F420B-9C37-9E79-5328-AB6C8C95229A}"/>
              </a:ext>
            </a:extLst>
          </p:cNvPr>
          <p:cNvSpPr txBox="1"/>
          <p:nvPr/>
        </p:nvSpPr>
        <p:spPr>
          <a:xfrm>
            <a:off x="1485900" y="4711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EBD28B-7C83-1C71-C647-1E88D70BDE6E}"/>
              </a:ext>
            </a:extLst>
          </p:cNvPr>
          <p:cNvSpPr txBox="1"/>
          <p:nvPr/>
        </p:nvSpPr>
        <p:spPr>
          <a:xfrm>
            <a:off x="2095500" y="4699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rota abre no Google Maps.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E3A90F9-8AD1-A552-0A30-3E32366F7840}"/>
              </a:ext>
            </a:extLst>
          </p:cNvPr>
          <p:cNvSpPr txBox="1"/>
          <p:nvPr/>
        </p:nvSpPr>
        <p:spPr>
          <a:xfrm>
            <a:off x="6604000" y="2349500"/>
            <a:ext cx="2413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6200" b="1">
                <a:solidFill>
                  <a:srgbClr val="0D6EE8"/>
                </a:solidFill>
                <a:latin typeface="Aptos Display" panose="020B0004020202020204" pitchFamily="34" charset="0"/>
              </a:rPr>
              <a:t>GPS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AF5FFD8-2A9C-74DD-4C55-60EA4016BB7B}"/>
              </a:ext>
            </a:extLst>
          </p:cNvPr>
          <p:cNvSpPr txBox="1"/>
          <p:nvPr/>
        </p:nvSpPr>
        <p:spPr>
          <a:xfrm>
            <a:off x="6604000" y="3810000"/>
            <a:ext cx="3810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Se a localização for recusada, a rota continua a funcionar usando a morada do beneficiário.</a:t>
            </a:r>
          </a:p>
        </p:txBody>
      </p:sp>
    </p:spTree>
    <p:extLst>
      <p:ext uri="{BB962C8B-B14F-4D97-AF65-F5344CB8AC3E}">
        <p14:creationId xmlns:p14="http://schemas.microsoft.com/office/powerpoint/2010/main" val="297481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31F9AA7-485A-0CCB-C7C0-4643360A11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C76FA8-614F-9FAE-5C30-95FBC6A6F62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FC14EE-F80B-015A-6F94-A11BC8BA793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3B2E37-880E-18F2-4D3C-F6B304DE9905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Tecnologias utilizadas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D7D29C-A170-73D2-28DC-A51675186F8D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E32E747-459D-4244-143E-77A93C86FF16}"/>
              </a:ext>
            </a:extLst>
          </p:cNvPr>
          <p:cNvSpPr/>
          <p:nvPr/>
        </p:nvSpPr>
        <p:spPr>
          <a:xfrm>
            <a:off x="889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94BCA1-7AB0-345C-EB89-5898E1D779EC}"/>
              </a:ext>
            </a:extLst>
          </p:cNvPr>
          <p:cNvSpPr/>
          <p:nvPr/>
        </p:nvSpPr>
        <p:spPr>
          <a:xfrm>
            <a:off x="889000" y="17780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67F6EA-83B8-83A9-445E-66213A0CE4C1}"/>
              </a:ext>
            </a:extLst>
          </p:cNvPr>
          <p:cNvSpPr txBox="1"/>
          <p:nvPr/>
        </p:nvSpPr>
        <p:spPr>
          <a:xfrm>
            <a:off x="1168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HTML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D8AA789-229D-66EC-723E-BBDF152ADAFF}"/>
              </a:ext>
            </a:extLst>
          </p:cNvPr>
          <p:cNvSpPr txBox="1"/>
          <p:nvPr/>
        </p:nvSpPr>
        <p:spPr>
          <a:xfrm>
            <a:off x="1168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Estrutura das páginas e formulários da aplicação.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988E0F4-A621-3519-4906-0C3535398594}"/>
              </a:ext>
            </a:extLst>
          </p:cNvPr>
          <p:cNvSpPr/>
          <p:nvPr/>
        </p:nvSpPr>
        <p:spPr>
          <a:xfrm>
            <a:off x="45085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9027F61-8D68-E2D8-6CD5-F98BC641303C}"/>
              </a:ext>
            </a:extLst>
          </p:cNvPr>
          <p:cNvSpPr/>
          <p:nvPr/>
        </p:nvSpPr>
        <p:spPr>
          <a:xfrm>
            <a:off x="4508500" y="1778000"/>
            <a:ext cx="88900" cy="1905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40FD03-8EFB-75C8-7795-C880431AFC4B}"/>
              </a:ext>
            </a:extLst>
          </p:cNvPr>
          <p:cNvSpPr txBox="1"/>
          <p:nvPr/>
        </p:nvSpPr>
        <p:spPr>
          <a:xfrm>
            <a:off x="47879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CSS + Bootstrap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AEF010-849D-28B1-071B-2BE4FF23190D}"/>
              </a:ext>
            </a:extLst>
          </p:cNvPr>
          <p:cNvSpPr txBox="1"/>
          <p:nvPr/>
        </p:nvSpPr>
        <p:spPr>
          <a:xfrm>
            <a:off x="4787900" y="24765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Layout responsivo, cartões, tabelas, modais e componentes visuais.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ABE2E29-F5FB-1B82-BA66-D15B480A149C}"/>
              </a:ext>
            </a:extLst>
          </p:cNvPr>
          <p:cNvSpPr/>
          <p:nvPr/>
        </p:nvSpPr>
        <p:spPr>
          <a:xfrm>
            <a:off x="8128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5994419-E98B-59F5-908D-ED1F079AE0CA}"/>
              </a:ext>
            </a:extLst>
          </p:cNvPr>
          <p:cNvSpPr/>
          <p:nvPr/>
        </p:nvSpPr>
        <p:spPr>
          <a:xfrm>
            <a:off x="8128000" y="17780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D594AA3-605D-C196-1B58-C08BE6AED13E}"/>
              </a:ext>
            </a:extLst>
          </p:cNvPr>
          <p:cNvSpPr txBox="1"/>
          <p:nvPr/>
        </p:nvSpPr>
        <p:spPr>
          <a:xfrm>
            <a:off x="8407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JavaScript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A2F3489-F89C-734B-C440-CA0CED0492B6}"/>
              </a:ext>
            </a:extLst>
          </p:cNvPr>
          <p:cNvSpPr txBox="1"/>
          <p:nvPr/>
        </p:nvSpPr>
        <p:spPr>
          <a:xfrm>
            <a:off x="8407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Navegação, validação, filtros, renderização e integração GPS.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B0CF7A-0242-C08A-3487-0B4A2C1E4BF8}"/>
              </a:ext>
            </a:extLst>
          </p:cNvPr>
          <p:cNvSpPr/>
          <p:nvPr/>
        </p:nvSpPr>
        <p:spPr>
          <a:xfrm>
            <a:off x="27305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DEDDDDA-0C79-648C-2076-C39F967AE168}"/>
              </a:ext>
            </a:extLst>
          </p:cNvPr>
          <p:cNvSpPr/>
          <p:nvPr/>
        </p:nvSpPr>
        <p:spPr>
          <a:xfrm>
            <a:off x="2730500" y="42545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FB1F1F-472E-3034-0343-206FB211EA35}"/>
              </a:ext>
            </a:extLst>
          </p:cNvPr>
          <p:cNvSpPr txBox="1"/>
          <p:nvPr/>
        </p:nvSpPr>
        <p:spPr>
          <a:xfrm>
            <a:off x="30099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PHP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F87DB90-C5BD-4887-0854-0BA1B655F0F8}"/>
              </a:ext>
            </a:extLst>
          </p:cNvPr>
          <p:cNvSpPr txBox="1"/>
          <p:nvPr/>
        </p:nvSpPr>
        <p:spPr>
          <a:xfrm>
            <a:off x="3009900" y="49530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API no servidor para receber, validar e guardar os dados.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BE7D76C-9AAA-DBB1-1E7B-FB18E9691992}"/>
              </a:ext>
            </a:extLst>
          </p:cNvPr>
          <p:cNvSpPr/>
          <p:nvPr/>
        </p:nvSpPr>
        <p:spPr>
          <a:xfrm>
            <a:off x="63500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0901514-C756-976C-4882-E08BB9C42555}"/>
              </a:ext>
            </a:extLst>
          </p:cNvPr>
          <p:cNvSpPr/>
          <p:nvPr/>
        </p:nvSpPr>
        <p:spPr>
          <a:xfrm>
            <a:off x="6350000" y="42545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B175BF9-FB40-593A-1A2C-0C2992D09622}"/>
              </a:ext>
            </a:extLst>
          </p:cNvPr>
          <p:cNvSpPr txBox="1"/>
          <p:nvPr/>
        </p:nvSpPr>
        <p:spPr>
          <a:xfrm>
            <a:off x="66294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SQLite + PDO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264EFD2-83E3-7797-46D1-984AEF5B4617}"/>
              </a:ext>
            </a:extLst>
          </p:cNvPr>
          <p:cNvSpPr txBox="1"/>
          <p:nvPr/>
        </p:nvSpPr>
        <p:spPr>
          <a:xfrm>
            <a:off x="6629400" y="49530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Base de dados relacional local, sem custos de instalação de servidor de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80033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7FF127-921B-9054-AC80-431F4B03BC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F9572B-D803-A23D-BAEA-5145D1B7468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2A2AAB-930D-5BA3-05FC-91172A5F40C8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ARQUITETURA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8C328F-FE45-874A-ECBD-BB90A461D857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Como funciona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2D8155-539A-69A1-676A-02A37B103DB2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F652D0-1561-39A1-9B99-F90ADA13457D}"/>
              </a:ext>
            </a:extLst>
          </p:cNvPr>
          <p:cNvSpPr txBox="1"/>
          <p:nvPr/>
        </p:nvSpPr>
        <p:spPr>
          <a:xfrm>
            <a:off x="698500" y="15875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Fluxo de uma operação na aplicação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0C047FA-059A-C3BB-EFA5-912DD562610E}"/>
              </a:ext>
            </a:extLst>
          </p:cNvPr>
          <p:cNvSpPr/>
          <p:nvPr/>
        </p:nvSpPr>
        <p:spPr>
          <a:xfrm>
            <a:off x="889000" y="2667000"/>
            <a:ext cx="2159000" cy="1143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02F25F-3F25-EA0B-9CE9-9C209C5C4ED5}"/>
              </a:ext>
            </a:extLst>
          </p:cNvPr>
          <p:cNvSpPr txBox="1"/>
          <p:nvPr/>
        </p:nvSpPr>
        <p:spPr>
          <a:xfrm>
            <a:off x="1168400" y="2997200"/>
            <a:ext cx="15875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Utilizador - Médico / coordenação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7AF48E-C848-C71D-2137-036E4BA64F8F}"/>
              </a:ext>
            </a:extLst>
          </p:cNvPr>
          <p:cNvSpPr txBox="1"/>
          <p:nvPr/>
        </p:nvSpPr>
        <p:spPr>
          <a:xfrm>
            <a:off x="3429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D309EE-6401-0B8E-6BAE-DC56949B21D0}"/>
              </a:ext>
            </a:extLst>
          </p:cNvPr>
          <p:cNvSpPr/>
          <p:nvPr/>
        </p:nvSpPr>
        <p:spPr>
          <a:xfrm>
            <a:off x="4318000" y="2667000"/>
            <a:ext cx="2159000" cy="1143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059AE4-B448-177A-C137-BAF912CFF475}"/>
              </a:ext>
            </a:extLst>
          </p:cNvPr>
          <p:cNvSpPr txBox="1"/>
          <p:nvPr/>
        </p:nvSpPr>
        <p:spPr>
          <a:xfrm>
            <a:off x="4889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Interface - Cuida+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61932F4-1AE6-0F37-EE55-F90E878EEEA2}"/>
              </a:ext>
            </a:extLst>
          </p:cNvPr>
          <p:cNvSpPr txBox="1"/>
          <p:nvPr/>
        </p:nvSpPr>
        <p:spPr>
          <a:xfrm>
            <a:off x="6858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BB2F9C9-C1CB-D4CD-37FE-B4F86D3E1F0D}"/>
              </a:ext>
            </a:extLst>
          </p:cNvPr>
          <p:cNvSpPr/>
          <p:nvPr/>
        </p:nvSpPr>
        <p:spPr>
          <a:xfrm>
            <a:off x="7747000" y="2667000"/>
            <a:ext cx="2159000" cy="1143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650BEF-8173-9361-79ED-5AE7F3201737}"/>
              </a:ext>
            </a:extLst>
          </p:cNvPr>
          <p:cNvSpPr txBox="1"/>
          <p:nvPr/>
        </p:nvSpPr>
        <p:spPr>
          <a:xfrm>
            <a:off x="8318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API PHP - api.php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E73D22F-F9B9-B2E5-C792-2D9803C0E9B9}"/>
              </a:ext>
            </a:extLst>
          </p:cNvPr>
          <p:cNvSpPr txBox="1"/>
          <p:nvPr/>
        </p:nvSpPr>
        <p:spPr>
          <a:xfrm>
            <a:off x="10287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764CD5C-513A-7D92-5997-783E0E9FE28E}"/>
              </a:ext>
            </a:extLst>
          </p:cNvPr>
          <p:cNvSpPr/>
          <p:nvPr/>
        </p:nvSpPr>
        <p:spPr>
          <a:xfrm>
            <a:off x="10795000" y="2667000"/>
            <a:ext cx="952500" cy="11430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66D3C64-46DB-FABE-E7D6-5C25C22DE79C}"/>
              </a:ext>
            </a:extLst>
          </p:cNvPr>
          <p:cNvSpPr txBox="1"/>
          <p:nvPr/>
        </p:nvSpPr>
        <p:spPr>
          <a:xfrm>
            <a:off x="10934700" y="3111500"/>
            <a:ext cx="685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F471E52-AA3E-DB0E-3F79-57EC56200528}"/>
              </a:ext>
            </a:extLst>
          </p:cNvPr>
          <p:cNvSpPr txBox="1"/>
          <p:nvPr/>
        </p:nvSpPr>
        <p:spPr>
          <a:xfrm>
            <a:off x="1143000" y="4762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847668"/>
                </a:solidFill>
                <a:latin typeface="Aptos" panose="020B0004020202020204" pitchFamily="34" charset="0"/>
              </a:rPr>
              <a:t>A interface mantém uma cópia local de segurança, enquanto o servidor centraliza os dados quando o PHP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782495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5E6A0B7-6A4A-A1C6-E022-83D093022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0655EC-D961-B3E6-5F87-EBB5FA685A1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F89343-0C76-01C1-5894-A9E32E262EC4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APRESENTAÇÃO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C4BA09-1CCA-2659-CA02-BA0ECB55F21F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Demonstração da aplicação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E0F594-17B6-4968-1E34-3E9D50CD99C9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F92F1BB-533A-3D09-C220-8476EE205A54}"/>
              </a:ext>
            </a:extLst>
          </p:cNvPr>
          <p:cNvSpPr/>
          <p:nvPr/>
        </p:nvSpPr>
        <p:spPr>
          <a:xfrm>
            <a:off x="698500" y="1498600"/>
            <a:ext cx="6350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B8F09F3-BE6D-1E77-EA99-6AB6C2FCC8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625600"/>
            <a:ext cx="6096000" cy="34290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822D2E-A173-DAAE-8957-2C98F6751E5F}"/>
              </a:ext>
            </a:extLst>
          </p:cNvPr>
          <p:cNvSpPr txBox="1"/>
          <p:nvPr/>
        </p:nvSpPr>
        <p:spPr>
          <a:xfrm>
            <a:off x="825500" y="5168900"/>
            <a:ext cx="609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>
                <a:solidFill>
                  <a:srgbClr val="847668"/>
                </a:solidFill>
                <a:latin typeface="Aptos" panose="020B0004020202020204" pitchFamily="34" charset="0"/>
              </a:rPr>
              <a:t>Interface real da aplicação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A1C5ED-2D5A-618E-122D-2A78E789AD96}"/>
              </a:ext>
            </a:extLst>
          </p:cNvPr>
          <p:cNvSpPr txBox="1"/>
          <p:nvPr/>
        </p:nvSpPr>
        <p:spPr>
          <a:xfrm>
            <a:off x="7747000" y="1625600"/>
            <a:ext cx="355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Um fluxo simples para cada visita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2A6AB56-8F58-8909-4777-005324C94955}"/>
              </a:ext>
            </a:extLst>
          </p:cNvPr>
          <p:cNvSpPr/>
          <p:nvPr/>
        </p:nvSpPr>
        <p:spPr>
          <a:xfrm>
            <a:off x="7810500" y="2476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250443-EE3D-8A80-91D8-CBE4BB0A936F}"/>
              </a:ext>
            </a:extLst>
          </p:cNvPr>
          <p:cNvSpPr txBox="1"/>
          <p:nvPr/>
        </p:nvSpPr>
        <p:spPr>
          <a:xfrm>
            <a:off x="8115300" y="24130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Consultar o dashboard e os indicadores.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8FBFB08-EB9C-B140-8394-B1E736CF95D6}"/>
              </a:ext>
            </a:extLst>
          </p:cNvPr>
          <p:cNvSpPr/>
          <p:nvPr/>
        </p:nvSpPr>
        <p:spPr>
          <a:xfrm>
            <a:off x="7810500" y="3136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C9945CD-7783-8660-CDF7-BBB4BDC1E585}"/>
              </a:ext>
            </a:extLst>
          </p:cNvPr>
          <p:cNvSpPr txBox="1"/>
          <p:nvPr/>
        </p:nvSpPr>
        <p:spPr>
          <a:xfrm>
            <a:off x="8115300" y="30734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Pesquisar beneficiários e necessidades.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6D2A7E1-F0FA-7029-7D73-579AF62FC5DB}"/>
              </a:ext>
            </a:extLst>
          </p:cNvPr>
          <p:cNvSpPr/>
          <p:nvPr/>
        </p:nvSpPr>
        <p:spPr>
          <a:xfrm>
            <a:off x="7810500" y="3797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CA00AD6-1D34-269A-A7DB-ED2722065634}"/>
              </a:ext>
            </a:extLst>
          </p:cNvPr>
          <p:cNvSpPr txBox="1"/>
          <p:nvPr/>
        </p:nvSpPr>
        <p:spPr>
          <a:xfrm>
            <a:off x="8115300" y="37338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Agendar apoios e atualizar estados.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68F15A5-0F3B-E8C8-023F-B9402703BE19}"/>
              </a:ext>
            </a:extLst>
          </p:cNvPr>
          <p:cNvSpPr/>
          <p:nvPr/>
        </p:nvSpPr>
        <p:spPr>
          <a:xfrm>
            <a:off x="7810500" y="4457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B516B67-AF99-3BCB-25EB-DF13B99F3912}"/>
              </a:ext>
            </a:extLst>
          </p:cNvPr>
          <p:cNvSpPr txBox="1"/>
          <p:nvPr/>
        </p:nvSpPr>
        <p:spPr>
          <a:xfrm>
            <a:off x="8115300" y="4394200"/>
            <a:ext cx="3492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a rota GPS para a visita.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BD39AF4-9CF5-9DD7-EDCF-6658696FBDF0}"/>
              </a:ext>
            </a:extLst>
          </p:cNvPr>
          <p:cNvSpPr/>
          <p:nvPr/>
        </p:nvSpPr>
        <p:spPr>
          <a:xfrm>
            <a:off x="7810500" y="5143500"/>
            <a:ext cx="3048000" cy="5334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7D27D67-CB10-7F23-FEFF-0E191E10CFC9}"/>
              </a:ext>
            </a:extLst>
          </p:cNvPr>
          <p:cNvSpPr txBox="1"/>
          <p:nvPr/>
        </p:nvSpPr>
        <p:spPr>
          <a:xfrm>
            <a:off x="8089900" y="52959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Do pedido ao acompanhamento</a:t>
            </a:r>
          </a:p>
        </p:txBody>
      </p:sp>
    </p:spTree>
    <p:extLst>
      <p:ext uri="{BB962C8B-B14F-4D97-AF65-F5344CB8AC3E}">
        <p14:creationId xmlns:p14="http://schemas.microsoft.com/office/powerpoint/2010/main" val="255014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AE332E-E6F1-A9F3-2DF1-DAAAA031B4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670D9D-409B-7953-892F-EB074BCDF4B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106535-1BB6-EEB1-35C5-9BC41BE6CE1B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COMO UTILIZAR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F1386F-DDEE-247E-B9E5-A7184450120C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Para que serve o +Apoio?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C49517-7B19-2C6B-70FD-629E1FC4A8FC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10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9BA128B-3168-7FCD-C1B2-9C4D66DC6D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E89DAB3-8340-A5B0-ED35-D7854E56D7E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77AF031-72F5-7B7E-5BC7-6F8D9DEC371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579374-C0E2-9CB4-12DF-20B605B5FD42}"/>
              </a:ext>
            </a:extLst>
          </p:cNvPr>
          <p:cNvSpPr txBox="1"/>
          <p:nvPr/>
        </p:nvSpPr>
        <p:spPr>
          <a:xfrm>
            <a:off x="698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1. Entrar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C754237-19BF-3B66-30B7-06CD9E785C64}"/>
              </a:ext>
            </a:extLst>
          </p:cNvPr>
          <p:cNvSpPr txBox="1"/>
          <p:nvPr/>
        </p:nvSpPr>
        <p:spPr>
          <a:xfrm>
            <a:off x="4381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2. Autenticar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761D5B-B403-85CB-E433-81322A016169}"/>
              </a:ext>
            </a:extLst>
          </p:cNvPr>
          <p:cNvSpPr txBox="1"/>
          <p:nvPr/>
        </p:nvSpPr>
        <p:spPr>
          <a:xfrm>
            <a:off x="8064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3. Criar conta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4D96AC8-25C6-1F86-C089-A6141F57BE5A}"/>
              </a:ext>
            </a:extLst>
          </p:cNvPr>
          <p:cNvSpPr/>
          <p:nvPr/>
        </p:nvSpPr>
        <p:spPr>
          <a:xfrm>
            <a:off x="6985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D86BE1C-A3CA-9F31-E974-0EA8509443EE}"/>
              </a:ext>
            </a:extLst>
          </p:cNvPr>
          <p:cNvSpPr/>
          <p:nvPr/>
        </p:nvSpPr>
        <p:spPr>
          <a:xfrm>
            <a:off x="698500" y="4191000"/>
            <a:ext cx="88900" cy="1587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EBD9AC1-CD72-746E-13C2-972942B410D1}"/>
              </a:ext>
            </a:extLst>
          </p:cNvPr>
          <p:cNvSpPr txBox="1"/>
          <p:nvPr/>
        </p:nvSpPr>
        <p:spPr>
          <a:xfrm>
            <a:off x="9779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Para que serve?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5F4F393-A61C-3E6E-7A77-A09436F82AC8}"/>
              </a:ext>
            </a:extLst>
          </p:cNvPr>
          <p:cNvSpPr txBox="1"/>
          <p:nvPr/>
        </p:nvSpPr>
        <p:spPr>
          <a:xfrm>
            <a:off x="977900" y="4889500"/>
            <a:ext cx="2794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Centraliza pedidos, beneficiários, médicos voluntários e acompanhamento das visitas num só espaço.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87C623F-C729-D5B9-5584-33DC1EDFE7EC}"/>
              </a:ext>
            </a:extLst>
          </p:cNvPr>
          <p:cNvSpPr/>
          <p:nvPr/>
        </p:nvSpPr>
        <p:spPr>
          <a:xfrm>
            <a:off x="44450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958ADDF-5C31-252D-3A0C-4AF5C6096A93}"/>
              </a:ext>
            </a:extLst>
          </p:cNvPr>
          <p:cNvSpPr/>
          <p:nvPr/>
        </p:nvSpPr>
        <p:spPr>
          <a:xfrm>
            <a:off x="4445000" y="4191000"/>
            <a:ext cx="88900" cy="1587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15294E4-8CC7-B28B-E47B-8201B101ECA9}"/>
              </a:ext>
            </a:extLst>
          </p:cNvPr>
          <p:cNvSpPr txBox="1"/>
          <p:nvPr/>
        </p:nvSpPr>
        <p:spPr>
          <a:xfrm>
            <a:off x="47244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Como utilizar?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F655C91-ABE5-BDF6-B2F8-E421C449B25E}"/>
              </a:ext>
            </a:extLst>
          </p:cNvPr>
          <p:cNvSpPr txBox="1"/>
          <p:nvPr/>
        </p:nvSpPr>
        <p:spPr>
          <a:xfrm>
            <a:off x="4724400" y="4889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Entrar, escolher o perfil, consultar a informação necessária e registar cada apoio realizado.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15436C7-C3C3-5D46-64CE-47D394E99565}"/>
              </a:ext>
            </a:extLst>
          </p:cNvPr>
          <p:cNvSpPr/>
          <p:nvPr/>
        </p:nvSpPr>
        <p:spPr>
          <a:xfrm>
            <a:off x="81915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CFC5B2C-648C-53E3-40F4-448A287F2A81}"/>
              </a:ext>
            </a:extLst>
          </p:cNvPr>
          <p:cNvSpPr/>
          <p:nvPr/>
        </p:nvSpPr>
        <p:spPr>
          <a:xfrm>
            <a:off x="8191500" y="4191000"/>
            <a:ext cx="88900" cy="1587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FF00387-0901-7E64-2BAF-98DEC9A4AD78}"/>
              </a:ext>
            </a:extLst>
          </p:cNvPr>
          <p:cNvSpPr txBox="1"/>
          <p:nvPr/>
        </p:nvSpPr>
        <p:spPr>
          <a:xfrm>
            <a:off x="84709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Quem pode usar?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8D0AE89-4153-21E6-C355-53E57EA132CA}"/>
              </a:ext>
            </a:extLst>
          </p:cNvPr>
          <p:cNvSpPr txBox="1"/>
          <p:nvPr/>
        </p:nvSpPr>
        <p:spPr>
          <a:xfrm>
            <a:off x="8470900" y="4889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Beneficiários, médicos voluntários e coordenação, cada um com as opções adequadas ao seu perfil.</a:t>
            </a:r>
          </a:p>
        </p:txBody>
      </p:sp>
    </p:spTree>
    <p:extLst>
      <p:ext uri="{BB962C8B-B14F-4D97-AF65-F5344CB8AC3E}">
        <p14:creationId xmlns:p14="http://schemas.microsoft.com/office/powerpoint/2010/main" val="226492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BC7E8CA-CC2B-0C6B-4D42-0AF136FE17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524515-20F9-9418-9F05-42938B576E3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832405-B77D-EFB2-A2F1-8E3380810AEA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ENCERRAMENTO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CAB6D1-8473-8245-1D33-16ECAF859C5E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Conclusão e evolução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49819CC-6014-DBAC-3C84-722A8EC707B1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11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058AA1-6BBC-4F59-ECC4-80B8E4160716}"/>
              </a:ext>
            </a:extLst>
          </p:cNvPr>
          <p:cNvSpPr txBox="1"/>
          <p:nvPr/>
        </p:nvSpPr>
        <p:spPr>
          <a:xfrm>
            <a:off x="825500" y="15875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O que já foi alcançado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3282CE5-5C53-4A34-D576-8F1A8A037E8E}"/>
              </a:ext>
            </a:extLst>
          </p:cNvPr>
          <p:cNvSpPr/>
          <p:nvPr/>
        </p:nvSpPr>
        <p:spPr>
          <a:xfrm>
            <a:off x="9525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20C72D-8DAA-B1F1-08A0-E65482E83E7B}"/>
              </a:ext>
            </a:extLst>
          </p:cNvPr>
          <p:cNvSpPr txBox="1"/>
          <p:nvPr/>
        </p:nvSpPr>
        <p:spPr>
          <a:xfrm>
            <a:off x="1257300" y="2286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Protótipo funcional de apoio domiciliário.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2AE25BB-918A-5EEA-FDA1-D2DFB3F5F6EA}"/>
              </a:ext>
            </a:extLst>
          </p:cNvPr>
          <p:cNvSpPr/>
          <p:nvPr/>
        </p:nvSpPr>
        <p:spPr>
          <a:xfrm>
            <a:off x="9525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F3E552-B117-F7FB-EEFA-51CA74F55F05}"/>
              </a:ext>
            </a:extLst>
          </p:cNvPr>
          <p:cNvSpPr txBox="1"/>
          <p:nvPr/>
        </p:nvSpPr>
        <p:spPr>
          <a:xfrm>
            <a:off x="1257300" y="2946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Gestão integrada de informação operacional.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DE2831F-88B1-2470-4496-EB9E9C43C8FD}"/>
              </a:ext>
            </a:extLst>
          </p:cNvPr>
          <p:cNvSpPr/>
          <p:nvPr/>
        </p:nvSpPr>
        <p:spPr>
          <a:xfrm>
            <a:off x="9525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98DADE4-3AB7-12EF-B6EC-891E7497E78B}"/>
              </a:ext>
            </a:extLst>
          </p:cNvPr>
          <p:cNvSpPr txBox="1"/>
          <p:nvPr/>
        </p:nvSpPr>
        <p:spPr>
          <a:xfrm>
            <a:off x="1257300" y="3606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Base SQLite ligada através de PHP.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2C42204-F213-415B-1166-EE365A5EA31F}"/>
              </a:ext>
            </a:extLst>
          </p:cNvPr>
          <p:cNvSpPr/>
          <p:nvPr/>
        </p:nvSpPr>
        <p:spPr>
          <a:xfrm>
            <a:off x="9525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D07460D-E112-8198-1002-2AA1A88960A1}"/>
              </a:ext>
            </a:extLst>
          </p:cNvPr>
          <p:cNvSpPr txBox="1"/>
          <p:nvPr/>
        </p:nvSpPr>
        <p:spPr>
          <a:xfrm>
            <a:off x="1257300" y="4267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Navegação GPS para apoiar as visitas.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0F51CFA-B3B4-F7D5-EE51-1E42A65A14A9}"/>
              </a:ext>
            </a:extLst>
          </p:cNvPr>
          <p:cNvSpPr txBox="1"/>
          <p:nvPr/>
        </p:nvSpPr>
        <p:spPr>
          <a:xfrm>
            <a:off x="6858000" y="15875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Próximos passos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2B6AFD6-B023-7FA5-5AF8-624323A0CC57}"/>
              </a:ext>
            </a:extLst>
          </p:cNvPr>
          <p:cNvSpPr/>
          <p:nvPr/>
        </p:nvSpPr>
        <p:spPr>
          <a:xfrm>
            <a:off x="69850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60EDD12-F811-4A13-ACED-AB833231CAE9}"/>
              </a:ext>
            </a:extLst>
          </p:cNvPr>
          <p:cNvSpPr txBox="1"/>
          <p:nvPr/>
        </p:nvSpPr>
        <p:spPr>
          <a:xfrm>
            <a:off x="7289800" y="228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Autenticação e perfis de utilizador.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9604759-D8D1-8943-EEA3-16D3BF45BD0A}"/>
              </a:ext>
            </a:extLst>
          </p:cNvPr>
          <p:cNvSpPr/>
          <p:nvPr/>
        </p:nvSpPr>
        <p:spPr>
          <a:xfrm>
            <a:off x="69850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7321E7F-B4B9-32D3-E549-54EAC7EE02B4}"/>
              </a:ext>
            </a:extLst>
          </p:cNvPr>
          <p:cNvSpPr txBox="1"/>
          <p:nvPr/>
        </p:nvSpPr>
        <p:spPr>
          <a:xfrm>
            <a:off x="7289800" y="2946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Permissões e auditoria de acessos.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82517FC-568E-CA20-52FA-FCC9BF36F216}"/>
              </a:ext>
            </a:extLst>
          </p:cNvPr>
          <p:cNvSpPr/>
          <p:nvPr/>
        </p:nvSpPr>
        <p:spPr>
          <a:xfrm>
            <a:off x="69850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72CD7C3-D440-9931-6DBE-D4ABCD27D4CC}"/>
              </a:ext>
            </a:extLst>
          </p:cNvPr>
          <p:cNvSpPr txBox="1"/>
          <p:nvPr/>
        </p:nvSpPr>
        <p:spPr>
          <a:xfrm>
            <a:off x="7289800" y="3606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Cópias de segurança automáticas.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FBE1654-D669-0142-C911-6A7F84CBE318}"/>
              </a:ext>
            </a:extLst>
          </p:cNvPr>
          <p:cNvSpPr/>
          <p:nvPr/>
        </p:nvSpPr>
        <p:spPr>
          <a:xfrm>
            <a:off x="69850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6110EB4-3866-BFA6-CDCF-A5FC5C26A24A}"/>
              </a:ext>
            </a:extLst>
          </p:cNvPr>
          <p:cNvSpPr txBox="1"/>
          <p:nvPr/>
        </p:nvSpPr>
        <p:spPr>
          <a:xfrm>
            <a:off x="7289800" y="4267200"/>
            <a:ext cx="431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Cumprimento das regras de proteção de dados.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9E34C94-BD45-006F-9DEC-9101C9C1A973}"/>
              </a:ext>
            </a:extLst>
          </p:cNvPr>
          <p:cNvSpPr/>
          <p:nvPr/>
        </p:nvSpPr>
        <p:spPr>
          <a:xfrm>
            <a:off x="825500" y="5461000"/>
            <a:ext cx="10477500" cy="5334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619604F-16E4-4DF6-847F-5083A547487E}"/>
              </a:ext>
            </a:extLst>
          </p:cNvPr>
          <p:cNvSpPr txBox="1"/>
          <p:nvPr/>
        </p:nvSpPr>
        <p:spPr>
          <a:xfrm>
            <a:off x="3175000" y="56134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+Apoio : tecnologia para apoiar quem cuida.</a:t>
            </a:r>
          </a:p>
        </p:txBody>
      </p:sp>
    </p:spTree>
    <p:extLst>
      <p:ext uri="{BB962C8B-B14F-4D97-AF65-F5344CB8AC3E}">
        <p14:creationId xmlns:p14="http://schemas.microsoft.com/office/powerpoint/2010/main" val="13106604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787</Words>
  <Application>Microsoft Office PowerPoint</Application>
  <PresentationFormat>Apresentação no Ecrã (16:9)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Alexandre Paredes da Silva</dc:creator>
  <cp:lastModifiedBy>Rodrigo Alexandre Paredes da Silva</cp:lastModifiedBy>
  <cp:revision>1</cp:revision>
  <dcterms:created xsi:type="dcterms:W3CDTF">2026-10-09T14:12:22Z</dcterms:created>
  <dcterms:modified xsi:type="dcterms:W3CDTF">2026-10-09T14:24:45Z</dcterms:modified>
</cp:coreProperties>
</file>